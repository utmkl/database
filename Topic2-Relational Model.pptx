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73" r:id="rId16"/>
    <p:sldId id="269" r:id="rId17"/>
    <p:sldId id="270" r:id="rId18"/>
    <p:sldId id="271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830E3E"/>
    <a:srgbClr val="4472C4"/>
    <a:srgbClr val="E2A2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4660"/>
  </p:normalViewPr>
  <p:slideViewPr>
    <p:cSldViewPr snapToGrid="0">
      <p:cViewPr varScale="1">
        <p:scale>
          <a:sx n="49" d="100"/>
          <a:sy n="49" d="100"/>
        </p:scale>
        <p:origin x="3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#1">
  <dgm:title val=""/>
  <dgm:desc val=""/>
  <dgm:catLst>
    <dgm:cat type="accent6" pri="11200"/>
  </dgm:catLst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3397DD-6FB2-4325-8F9C-B125029586B1}" type="doc">
      <dgm:prSet loTypeId="urn:microsoft.com/office/officeart/2005/8/layout/arrow2#1" loCatId="process" qsTypeId="urn:microsoft.com/office/officeart/2005/8/quickstyle/simple4#1" qsCatId="simple" csTypeId="urn:microsoft.com/office/officeart/2005/8/colors/accent6_2#1" csCatId="accent6" phldr="1"/>
      <dgm:spPr/>
    </dgm:pt>
    <dgm:pt modelId="{CFC154D5-092B-4D6A-8E6D-A94CAB8366F9}">
      <dgm:prSet phldrT="[Text]"/>
      <dgm:spPr/>
      <dgm:t>
        <a:bodyPr/>
        <a:lstStyle/>
        <a:p>
          <a:r>
            <a:rPr lang="en-MY" b="1" dirty="0"/>
            <a:t>First generation </a:t>
          </a:r>
          <a:r>
            <a:rPr lang="en-MY" dirty="0"/>
            <a:t>(hierarchical, network DBMS) – 1960s</a:t>
          </a:r>
        </a:p>
      </dgm:t>
    </dgm:pt>
    <dgm:pt modelId="{4F0DD13C-D39E-4017-A616-018C1F7A8EAE}" type="parTrans" cxnId="{55A99953-764F-4482-A4FA-6A54BBC22851}">
      <dgm:prSet/>
      <dgm:spPr/>
      <dgm:t>
        <a:bodyPr/>
        <a:lstStyle/>
        <a:p>
          <a:endParaRPr lang="en-MY"/>
        </a:p>
      </dgm:t>
    </dgm:pt>
    <dgm:pt modelId="{D846259A-E3EA-4119-A34C-F18149C9836C}" type="sibTrans" cxnId="{55A99953-764F-4482-A4FA-6A54BBC22851}">
      <dgm:prSet/>
      <dgm:spPr/>
      <dgm:t>
        <a:bodyPr/>
        <a:lstStyle/>
        <a:p>
          <a:endParaRPr lang="en-MY"/>
        </a:p>
      </dgm:t>
    </dgm:pt>
    <dgm:pt modelId="{A9C48FE7-D297-4C65-876B-46CF058FE485}">
      <dgm:prSet phldrT="[Text]"/>
      <dgm:spPr/>
      <dgm:t>
        <a:bodyPr/>
        <a:lstStyle/>
        <a:p>
          <a:r>
            <a:rPr lang="en-MY" b="1" dirty="0"/>
            <a:t>Second generation </a:t>
          </a:r>
          <a:r>
            <a:rPr lang="en-MY" dirty="0"/>
            <a:t>(relational DBMS (RDBMS)) </a:t>
          </a:r>
          <a:br>
            <a:rPr lang="en-MY" dirty="0"/>
          </a:br>
          <a:r>
            <a:rPr lang="en-MY" dirty="0"/>
            <a:t>– late 70s</a:t>
          </a:r>
        </a:p>
      </dgm:t>
    </dgm:pt>
    <dgm:pt modelId="{9D276E8A-D33D-4C6A-B7BF-209DB10E9C3D}" type="parTrans" cxnId="{7E27EABC-C8C2-4374-9E13-EA0A9C3C787A}">
      <dgm:prSet/>
      <dgm:spPr/>
      <dgm:t>
        <a:bodyPr/>
        <a:lstStyle/>
        <a:p>
          <a:endParaRPr lang="en-MY"/>
        </a:p>
      </dgm:t>
    </dgm:pt>
    <dgm:pt modelId="{66DDB66C-D713-498D-95DB-539C0DAF1F98}" type="sibTrans" cxnId="{7E27EABC-C8C2-4374-9E13-EA0A9C3C787A}">
      <dgm:prSet/>
      <dgm:spPr/>
      <dgm:t>
        <a:bodyPr/>
        <a:lstStyle/>
        <a:p>
          <a:endParaRPr lang="en-MY"/>
        </a:p>
      </dgm:t>
    </dgm:pt>
    <dgm:pt modelId="{B976C05A-4070-4DFE-B7BE-83C8B9D99F1F}">
      <dgm:prSet phldrT="[Text]"/>
      <dgm:spPr/>
      <dgm:t>
        <a:bodyPr/>
        <a:lstStyle/>
        <a:p>
          <a:r>
            <a:rPr lang="en-MY" b="1" dirty="0"/>
            <a:t>Third generation</a:t>
          </a:r>
        </a:p>
        <a:p>
          <a:r>
            <a:rPr lang="en-MY" dirty="0"/>
            <a:t>(Object-oriented DBMS, Object-relation DBMS)</a:t>
          </a:r>
        </a:p>
      </dgm:t>
    </dgm:pt>
    <dgm:pt modelId="{0A37EAE2-23D7-46CC-8A1A-2FC557DF4FBD}" type="parTrans" cxnId="{BBE02D77-82C1-42C4-9E48-1D3CB7A3FB2B}">
      <dgm:prSet/>
      <dgm:spPr/>
      <dgm:t>
        <a:bodyPr/>
        <a:lstStyle/>
        <a:p>
          <a:endParaRPr lang="en-MY"/>
        </a:p>
      </dgm:t>
    </dgm:pt>
    <dgm:pt modelId="{525D43DD-1385-4A45-AF14-C079F85BE830}" type="sibTrans" cxnId="{BBE02D77-82C1-42C4-9E48-1D3CB7A3FB2B}">
      <dgm:prSet/>
      <dgm:spPr/>
      <dgm:t>
        <a:bodyPr/>
        <a:lstStyle/>
        <a:p>
          <a:endParaRPr lang="en-MY"/>
        </a:p>
      </dgm:t>
    </dgm:pt>
    <dgm:pt modelId="{46CEAE4E-22BC-46D2-B08D-C8E753B593AD}" type="pres">
      <dgm:prSet presAssocID="{163397DD-6FB2-4325-8F9C-B125029586B1}" presName="arrowDiagram" presStyleCnt="0">
        <dgm:presLayoutVars>
          <dgm:chMax val="5"/>
          <dgm:dir/>
          <dgm:resizeHandles val="exact"/>
        </dgm:presLayoutVars>
      </dgm:prSet>
      <dgm:spPr/>
    </dgm:pt>
    <dgm:pt modelId="{F272ED09-3F6D-419A-A538-A1ACBEB34F90}" type="pres">
      <dgm:prSet presAssocID="{163397DD-6FB2-4325-8F9C-B125029586B1}" presName="arrow" presStyleLbl="bgShp" presStyleIdx="0" presStyleCnt="1"/>
      <dgm:spPr/>
    </dgm:pt>
    <dgm:pt modelId="{6912F5EB-3571-4D1E-B81B-E3855B1AA5D7}" type="pres">
      <dgm:prSet presAssocID="{163397DD-6FB2-4325-8F9C-B125029586B1}" presName="arrowDiagram3" presStyleCnt="0"/>
      <dgm:spPr/>
    </dgm:pt>
    <dgm:pt modelId="{85ADAA4A-54FF-4D50-B4F4-ED8F377812AE}" type="pres">
      <dgm:prSet presAssocID="{CFC154D5-092B-4D6A-8E6D-A94CAB8366F9}" presName="bullet3a" presStyleLbl="node1" presStyleIdx="0" presStyleCnt="3"/>
      <dgm:spPr/>
    </dgm:pt>
    <dgm:pt modelId="{DC8DCF75-D488-4F61-80C7-7E749FFBB122}" type="pres">
      <dgm:prSet presAssocID="{CFC154D5-092B-4D6A-8E6D-A94CAB8366F9}" presName="textBox3a" presStyleLbl="revTx" presStyleIdx="0" presStyleCnt="3" custScaleX="124757" custScaleY="67452" custLinFactNeighborX="-2912">
        <dgm:presLayoutVars>
          <dgm:bulletEnabled val="1"/>
        </dgm:presLayoutVars>
      </dgm:prSet>
      <dgm:spPr/>
    </dgm:pt>
    <dgm:pt modelId="{A0D8C4AA-AD8C-4962-938A-6B50D1877E98}" type="pres">
      <dgm:prSet presAssocID="{A9C48FE7-D297-4C65-876B-46CF058FE485}" presName="bullet3b" presStyleLbl="node1" presStyleIdx="1" presStyleCnt="3"/>
      <dgm:spPr/>
    </dgm:pt>
    <dgm:pt modelId="{4E3BCB7B-E379-4F8E-A7EB-5F762C0B53F9}" type="pres">
      <dgm:prSet presAssocID="{A9C48FE7-D297-4C65-876B-46CF058FE485}" presName="textBox3b" presStyleLbl="revTx" presStyleIdx="1" presStyleCnt="3" custScaleX="123198" custScaleY="88562" custLinFactNeighborX="406" custLinFactNeighborY="5521">
        <dgm:presLayoutVars>
          <dgm:bulletEnabled val="1"/>
        </dgm:presLayoutVars>
      </dgm:prSet>
      <dgm:spPr/>
    </dgm:pt>
    <dgm:pt modelId="{6FD5FFEA-3364-435D-9B25-9F8083141001}" type="pres">
      <dgm:prSet presAssocID="{B976C05A-4070-4DFE-B7BE-83C8B9D99F1F}" presName="bullet3c" presStyleLbl="node1" presStyleIdx="2" presStyleCnt="3"/>
      <dgm:spPr/>
    </dgm:pt>
    <dgm:pt modelId="{08C05197-0196-4F1D-9C51-3BAE06A7F6D3}" type="pres">
      <dgm:prSet presAssocID="{B976C05A-4070-4DFE-B7BE-83C8B9D99F1F}" presName="textBox3c" presStyleLbl="revTx" presStyleIdx="2" presStyleCnt="3" custScaleX="122919" custScaleY="90478" custLinFactNeighborX="3231" custLinFactNeighborY="2993">
        <dgm:presLayoutVars>
          <dgm:bulletEnabled val="1"/>
        </dgm:presLayoutVars>
      </dgm:prSet>
      <dgm:spPr/>
    </dgm:pt>
  </dgm:ptLst>
  <dgm:cxnLst>
    <dgm:cxn modelId="{7134AE1F-73ED-4ADF-9A89-F89F9CBF7C2B}" type="presOf" srcId="{B976C05A-4070-4DFE-B7BE-83C8B9D99F1F}" destId="{08C05197-0196-4F1D-9C51-3BAE06A7F6D3}" srcOrd="0" destOrd="0" presId="urn:microsoft.com/office/officeart/2005/8/layout/arrow2#1"/>
    <dgm:cxn modelId="{EDE9B149-B569-4F0E-BDD2-1DD1D21D5E33}" type="presOf" srcId="{163397DD-6FB2-4325-8F9C-B125029586B1}" destId="{46CEAE4E-22BC-46D2-B08D-C8E753B593AD}" srcOrd="0" destOrd="0" presId="urn:microsoft.com/office/officeart/2005/8/layout/arrow2#1"/>
    <dgm:cxn modelId="{E01C8D6C-0807-4B31-8381-65F786C9F608}" type="presOf" srcId="{A9C48FE7-D297-4C65-876B-46CF058FE485}" destId="{4E3BCB7B-E379-4F8E-A7EB-5F762C0B53F9}" srcOrd="0" destOrd="0" presId="urn:microsoft.com/office/officeart/2005/8/layout/arrow2#1"/>
    <dgm:cxn modelId="{55A99953-764F-4482-A4FA-6A54BBC22851}" srcId="{163397DD-6FB2-4325-8F9C-B125029586B1}" destId="{CFC154D5-092B-4D6A-8E6D-A94CAB8366F9}" srcOrd="0" destOrd="0" parTransId="{4F0DD13C-D39E-4017-A616-018C1F7A8EAE}" sibTransId="{D846259A-E3EA-4119-A34C-F18149C9836C}"/>
    <dgm:cxn modelId="{47B00755-2F93-4C8F-BF1F-8214E3ACF0C6}" type="presOf" srcId="{CFC154D5-092B-4D6A-8E6D-A94CAB8366F9}" destId="{DC8DCF75-D488-4F61-80C7-7E749FFBB122}" srcOrd="0" destOrd="0" presId="urn:microsoft.com/office/officeart/2005/8/layout/arrow2#1"/>
    <dgm:cxn modelId="{BBE02D77-82C1-42C4-9E48-1D3CB7A3FB2B}" srcId="{163397DD-6FB2-4325-8F9C-B125029586B1}" destId="{B976C05A-4070-4DFE-B7BE-83C8B9D99F1F}" srcOrd="2" destOrd="0" parTransId="{0A37EAE2-23D7-46CC-8A1A-2FC557DF4FBD}" sibTransId="{525D43DD-1385-4A45-AF14-C079F85BE830}"/>
    <dgm:cxn modelId="{7E27EABC-C8C2-4374-9E13-EA0A9C3C787A}" srcId="{163397DD-6FB2-4325-8F9C-B125029586B1}" destId="{A9C48FE7-D297-4C65-876B-46CF058FE485}" srcOrd="1" destOrd="0" parTransId="{9D276E8A-D33D-4C6A-B7BF-209DB10E9C3D}" sibTransId="{66DDB66C-D713-498D-95DB-539C0DAF1F98}"/>
    <dgm:cxn modelId="{F8176DF2-EA04-4028-8C81-B40A034C6AD5}" type="presParOf" srcId="{46CEAE4E-22BC-46D2-B08D-C8E753B593AD}" destId="{F272ED09-3F6D-419A-A538-A1ACBEB34F90}" srcOrd="0" destOrd="0" presId="urn:microsoft.com/office/officeart/2005/8/layout/arrow2#1"/>
    <dgm:cxn modelId="{40245D1F-7DBC-4472-8B96-D8CCEAC4D398}" type="presParOf" srcId="{46CEAE4E-22BC-46D2-B08D-C8E753B593AD}" destId="{6912F5EB-3571-4D1E-B81B-E3855B1AA5D7}" srcOrd="1" destOrd="0" presId="urn:microsoft.com/office/officeart/2005/8/layout/arrow2#1"/>
    <dgm:cxn modelId="{3D9B9839-529C-4BFF-9A97-B0D4E0E051C6}" type="presParOf" srcId="{6912F5EB-3571-4D1E-B81B-E3855B1AA5D7}" destId="{85ADAA4A-54FF-4D50-B4F4-ED8F377812AE}" srcOrd="0" destOrd="0" presId="urn:microsoft.com/office/officeart/2005/8/layout/arrow2#1"/>
    <dgm:cxn modelId="{2A15DE2B-B3FC-4105-A926-95A5E5201CA6}" type="presParOf" srcId="{6912F5EB-3571-4D1E-B81B-E3855B1AA5D7}" destId="{DC8DCF75-D488-4F61-80C7-7E749FFBB122}" srcOrd="1" destOrd="0" presId="urn:microsoft.com/office/officeart/2005/8/layout/arrow2#1"/>
    <dgm:cxn modelId="{BFF1C4DE-742C-4188-8548-DF74009AADEE}" type="presParOf" srcId="{6912F5EB-3571-4D1E-B81B-E3855B1AA5D7}" destId="{A0D8C4AA-AD8C-4962-938A-6B50D1877E98}" srcOrd="2" destOrd="0" presId="urn:microsoft.com/office/officeart/2005/8/layout/arrow2#1"/>
    <dgm:cxn modelId="{6C075845-E285-45C2-B5D0-B408AB2CBAA2}" type="presParOf" srcId="{6912F5EB-3571-4D1E-B81B-E3855B1AA5D7}" destId="{4E3BCB7B-E379-4F8E-A7EB-5F762C0B53F9}" srcOrd="3" destOrd="0" presId="urn:microsoft.com/office/officeart/2005/8/layout/arrow2#1"/>
    <dgm:cxn modelId="{E895CF02-85DB-4D8B-BBC4-925180838DF3}" type="presParOf" srcId="{6912F5EB-3571-4D1E-B81B-E3855B1AA5D7}" destId="{6FD5FFEA-3364-435D-9B25-9F8083141001}" srcOrd="4" destOrd="0" presId="urn:microsoft.com/office/officeart/2005/8/layout/arrow2#1"/>
    <dgm:cxn modelId="{C11205B5-44D0-4176-AEA5-7265E91C00EB}" type="presParOf" srcId="{6912F5EB-3571-4D1E-B81B-E3855B1AA5D7}" destId="{08C05197-0196-4F1D-9C51-3BAE06A7F6D3}" srcOrd="5" destOrd="0" presId="urn:microsoft.com/office/officeart/2005/8/layout/arrow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B60639-AD42-4B4B-AB9E-37465389215E}" type="doc">
      <dgm:prSet loTypeId="urn:microsoft.com/office/officeart/2005/8/layout/hProcess9#1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29E7B84D-6198-40BA-83C3-171FA7587B48}">
      <dgm:prSet/>
      <dgm:spPr>
        <a:solidFill>
          <a:srgbClr val="0070C0"/>
        </a:solidFill>
      </dgm:spPr>
      <dgm:t>
        <a:bodyPr/>
        <a:lstStyle/>
        <a:p>
          <a:pPr rtl="0"/>
          <a:r>
            <a:rPr lang="en-US" dirty="0"/>
            <a:t>Superkey</a:t>
          </a:r>
        </a:p>
      </dgm:t>
    </dgm:pt>
    <dgm:pt modelId="{6EE24353-C930-4C4C-8A3E-A23AEA8DEFB6}" type="parTrans" cxnId="{F80F77D0-AE61-4F98-B701-8DDCFFCA4CB7}">
      <dgm:prSet/>
      <dgm:spPr/>
      <dgm:t>
        <a:bodyPr/>
        <a:lstStyle/>
        <a:p>
          <a:endParaRPr lang="en-US"/>
        </a:p>
      </dgm:t>
    </dgm:pt>
    <dgm:pt modelId="{F0583863-07CB-4473-A99C-F8C521FDB1B5}" type="sibTrans" cxnId="{F80F77D0-AE61-4F98-B701-8DDCFFCA4CB7}">
      <dgm:prSet/>
      <dgm:spPr/>
      <dgm:t>
        <a:bodyPr/>
        <a:lstStyle/>
        <a:p>
          <a:endParaRPr lang="en-US"/>
        </a:p>
      </dgm:t>
    </dgm:pt>
    <dgm:pt modelId="{660266A4-4011-45B7-94E5-3870E72E059D}">
      <dgm:prSet/>
      <dgm:spPr>
        <a:solidFill>
          <a:srgbClr val="0070C0"/>
        </a:solidFill>
      </dgm:spPr>
      <dgm:t>
        <a:bodyPr/>
        <a:lstStyle/>
        <a:p>
          <a:pPr rtl="0"/>
          <a:r>
            <a:rPr lang="en-US" dirty="0"/>
            <a:t>Candidate Key</a:t>
          </a:r>
        </a:p>
      </dgm:t>
    </dgm:pt>
    <dgm:pt modelId="{ABB87C43-26AB-456B-B495-458183B2A0A8}" type="parTrans" cxnId="{178704C2-1C6F-4F66-BEAF-13979C307ED7}">
      <dgm:prSet/>
      <dgm:spPr/>
      <dgm:t>
        <a:bodyPr/>
        <a:lstStyle/>
        <a:p>
          <a:endParaRPr lang="en-US"/>
        </a:p>
      </dgm:t>
    </dgm:pt>
    <dgm:pt modelId="{83CFC1FE-B321-4E8B-9F6F-94924471CD1E}" type="sibTrans" cxnId="{178704C2-1C6F-4F66-BEAF-13979C307ED7}">
      <dgm:prSet/>
      <dgm:spPr/>
      <dgm:t>
        <a:bodyPr/>
        <a:lstStyle/>
        <a:p>
          <a:endParaRPr lang="en-US"/>
        </a:p>
      </dgm:t>
    </dgm:pt>
    <dgm:pt modelId="{C2AE1D5F-4597-44A4-8BCA-07EA8E965935}">
      <dgm:prSet/>
      <dgm:spPr>
        <a:solidFill>
          <a:srgbClr val="0070C0"/>
        </a:solidFill>
      </dgm:spPr>
      <dgm:t>
        <a:bodyPr/>
        <a:lstStyle/>
        <a:p>
          <a:pPr rtl="0"/>
          <a:r>
            <a:rPr lang="en-US" b="1" baseline="0" dirty="0">
              <a:solidFill>
                <a:srgbClr val="FFFF00"/>
              </a:solidFill>
            </a:rPr>
            <a:t>Primary Key</a:t>
          </a:r>
        </a:p>
      </dgm:t>
    </dgm:pt>
    <dgm:pt modelId="{5A95ADE3-4E4E-47A0-B1B1-2D4B03ABFE78}" type="parTrans" cxnId="{8F0B8632-95C6-4C69-957D-FD4D3A5B521C}">
      <dgm:prSet/>
      <dgm:spPr/>
      <dgm:t>
        <a:bodyPr/>
        <a:lstStyle/>
        <a:p>
          <a:endParaRPr lang="en-US"/>
        </a:p>
      </dgm:t>
    </dgm:pt>
    <dgm:pt modelId="{5E4D4640-D8C0-413E-8727-584A656B8176}" type="sibTrans" cxnId="{8F0B8632-95C6-4C69-957D-FD4D3A5B521C}">
      <dgm:prSet/>
      <dgm:spPr/>
      <dgm:t>
        <a:bodyPr/>
        <a:lstStyle/>
        <a:p>
          <a:endParaRPr lang="en-US"/>
        </a:p>
      </dgm:t>
    </dgm:pt>
    <dgm:pt modelId="{523D1D09-3425-4AA3-B8D9-8B9F0C14F465}">
      <dgm:prSet/>
      <dgm:spPr>
        <a:solidFill>
          <a:srgbClr val="0070C0"/>
        </a:solidFill>
      </dgm:spPr>
      <dgm:t>
        <a:bodyPr/>
        <a:lstStyle/>
        <a:p>
          <a:pPr rtl="0"/>
          <a:r>
            <a:rPr lang="en-US" dirty="0"/>
            <a:t>Foreign Key</a:t>
          </a:r>
        </a:p>
      </dgm:t>
    </dgm:pt>
    <dgm:pt modelId="{814A984B-6FB6-4CB7-8A97-BD43639B0A99}" type="parTrans" cxnId="{4717D925-3D3C-4EE0-AE1B-7F9ADF3E810C}">
      <dgm:prSet/>
      <dgm:spPr/>
      <dgm:t>
        <a:bodyPr/>
        <a:lstStyle/>
        <a:p>
          <a:endParaRPr lang="en-US"/>
        </a:p>
      </dgm:t>
    </dgm:pt>
    <dgm:pt modelId="{7C64E742-89A1-47F8-8644-9DBF731CDF6D}" type="sibTrans" cxnId="{4717D925-3D3C-4EE0-AE1B-7F9ADF3E810C}">
      <dgm:prSet/>
      <dgm:spPr/>
      <dgm:t>
        <a:bodyPr/>
        <a:lstStyle/>
        <a:p>
          <a:endParaRPr lang="en-US"/>
        </a:p>
      </dgm:t>
    </dgm:pt>
    <dgm:pt modelId="{66EC7B71-CEA4-4A35-A057-DD6FA3191947}" type="pres">
      <dgm:prSet presAssocID="{8EB60639-AD42-4B4B-AB9E-37465389215E}" presName="CompostProcess" presStyleCnt="0">
        <dgm:presLayoutVars>
          <dgm:dir/>
          <dgm:resizeHandles val="exact"/>
        </dgm:presLayoutVars>
      </dgm:prSet>
      <dgm:spPr/>
    </dgm:pt>
    <dgm:pt modelId="{AF83AD5B-6F2E-4D9D-B5B8-EC96D6835833}" type="pres">
      <dgm:prSet presAssocID="{8EB60639-AD42-4B4B-AB9E-37465389215E}" presName="arrow" presStyleLbl="bgShp" presStyleIdx="0" presStyleCnt="1" custScaleX="117647" custScaleY="88489"/>
      <dgm:spPr>
        <a:solidFill>
          <a:schemeClr val="accent6"/>
        </a:solidFill>
      </dgm:spPr>
    </dgm:pt>
    <dgm:pt modelId="{BDE2847C-A99F-483F-843B-A9779A696563}" type="pres">
      <dgm:prSet presAssocID="{8EB60639-AD42-4B4B-AB9E-37465389215E}" presName="linearProcess" presStyleCnt="0"/>
      <dgm:spPr/>
    </dgm:pt>
    <dgm:pt modelId="{C296E892-F201-4613-8D9D-1649568FCA6F}" type="pres">
      <dgm:prSet presAssocID="{29E7B84D-6198-40BA-83C3-171FA7587B48}" presName="textNode" presStyleLbl="node1" presStyleIdx="0" presStyleCnt="4">
        <dgm:presLayoutVars>
          <dgm:bulletEnabled val="1"/>
        </dgm:presLayoutVars>
      </dgm:prSet>
      <dgm:spPr/>
    </dgm:pt>
    <dgm:pt modelId="{A71814FF-7FE6-4148-A882-7B4BB954BE2B}" type="pres">
      <dgm:prSet presAssocID="{F0583863-07CB-4473-A99C-F8C521FDB1B5}" presName="sibTrans" presStyleCnt="0"/>
      <dgm:spPr/>
    </dgm:pt>
    <dgm:pt modelId="{9CA3C9D0-E1A1-4C5D-A143-8E9B274D55CA}" type="pres">
      <dgm:prSet presAssocID="{660266A4-4011-45B7-94E5-3870E72E059D}" presName="textNode" presStyleLbl="node1" presStyleIdx="1" presStyleCnt="4">
        <dgm:presLayoutVars>
          <dgm:bulletEnabled val="1"/>
        </dgm:presLayoutVars>
      </dgm:prSet>
      <dgm:spPr/>
    </dgm:pt>
    <dgm:pt modelId="{025D23ED-143B-45BB-9A56-517200E2907B}" type="pres">
      <dgm:prSet presAssocID="{83CFC1FE-B321-4E8B-9F6F-94924471CD1E}" presName="sibTrans" presStyleCnt="0"/>
      <dgm:spPr/>
    </dgm:pt>
    <dgm:pt modelId="{D59CAE63-B0E5-4B25-B1C9-B86E5CE83B84}" type="pres">
      <dgm:prSet presAssocID="{C2AE1D5F-4597-44A4-8BCA-07EA8E965935}" presName="textNode" presStyleLbl="node1" presStyleIdx="2" presStyleCnt="4" custLinFactNeighborX="7991" custLinFactNeighborY="-1471">
        <dgm:presLayoutVars>
          <dgm:bulletEnabled val="1"/>
        </dgm:presLayoutVars>
      </dgm:prSet>
      <dgm:spPr/>
    </dgm:pt>
    <dgm:pt modelId="{774BC7BC-D3F6-462E-AF5D-3533BCE9C7D2}" type="pres">
      <dgm:prSet presAssocID="{5E4D4640-D8C0-413E-8727-584A656B8176}" presName="sibTrans" presStyleCnt="0"/>
      <dgm:spPr/>
    </dgm:pt>
    <dgm:pt modelId="{964AC93F-0B2F-4E3D-BD59-261CFFCC9C89}" type="pres">
      <dgm:prSet presAssocID="{523D1D09-3425-4AA3-B8D9-8B9F0C14F465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51F24D15-9B9E-7F4D-85EC-346AC8247A18}" type="presOf" srcId="{660266A4-4011-45B7-94E5-3870E72E059D}" destId="{9CA3C9D0-E1A1-4C5D-A143-8E9B274D55CA}" srcOrd="0" destOrd="0" presId="urn:microsoft.com/office/officeart/2005/8/layout/hProcess9#1"/>
    <dgm:cxn modelId="{4717D925-3D3C-4EE0-AE1B-7F9ADF3E810C}" srcId="{8EB60639-AD42-4B4B-AB9E-37465389215E}" destId="{523D1D09-3425-4AA3-B8D9-8B9F0C14F465}" srcOrd="3" destOrd="0" parTransId="{814A984B-6FB6-4CB7-8A97-BD43639B0A99}" sibTransId="{7C64E742-89A1-47F8-8644-9DBF731CDF6D}"/>
    <dgm:cxn modelId="{8F0B8632-95C6-4C69-957D-FD4D3A5B521C}" srcId="{8EB60639-AD42-4B4B-AB9E-37465389215E}" destId="{C2AE1D5F-4597-44A4-8BCA-07EA8E965935}" srcOrd="2" destOrd="0" parTransId="{5A95ADE3-4E4E-47A0-B1B1-2D4B03ABFE78}" sibTransId="{5E4D4640-D8C0-413E-8727-584A656B8176}"/>
    <dgm:cxn modelId="{A6CB588C-E854-1041-8513-144F49C59435}" type="presOf" srcId="{523D1D09-3425-4AA3-B8D9-8B9F0C14F465}" destId="{964AC93F-0B2F-4E3D-BD59-261CFFCC9C89}" srcOrd="0" destOrd="0" presId="urn:microsoft.com/office/officeart/2005/8/layout/hProcess9#1"/>
    <dgm:cxn modelId="{5591AB8F-7C3A-CC4F-A3F0-5EBC9FB7367B}" type="presOf" srcId="{C2AE1D5F-4597-44A4-8BCA-07EA8E965935}" destId="{D59CAE63-B0E5-4B25-B1C9-B86E5CE83B84}" srcOrd="0" destOrd="0" presId="urn:microsoft.com/office/officeart/2005/8/layout/hProcess9#1"/>
    <dgm:cxn modelId="{252B2196-7362-DD4D-9749-3709456A6199}" type="presOf" srcId="{8EB60639-AD42-4B4B-AB9E-37465389215E}" destId="{66EC7B71-CEA4-4A35-A057-DD6FA3191947}" srcOrd="0" destOrd="0" presId="urn:microsoft.com/office/officeart/2005/8/layout/hProcess9#1"/>
    <dgm:cxn modelId="{178704C2-1C6F-4F66-BEAF-13979C307ED7}" srcId="{8EB60639-AD42-4B4B-AB9E-37465389215E}" destId="{660266A4-4011-45B7-94E5-3870E72E059D}" srcOrd="1" destOrd="0" parTransId="{ABB87C43-26AB-456B-B495-458183B2A0A8}" sibTransId="{83CFC1FE-B321-4E8B-9F6F-94924471CD1E}"/>
    <dgm:cxn modelId="{55676EC6-5585-3F45-9C4B-44DC780F9DF4}" type="presOf" srcId="{29E7B84D-6198-40BA-83C3-171FA7587B48}" destId="{C296E892-F201-4613-8D9D-1649568FCA6F}" srcOrd="0" destOrd="0" presId="urn:microsoft.com/office/officeart/2005/8/layout/hProcess9#1"/>
    <dgm:cxn modelId="{F80F77D0-AE61-4F98-B701-8DDCFFCA4CB7}" srcId="{8EB60639-AD42-4B4B-AB9E-37465389215E}" destId="{29E7B84D-6198-40BA-83C3-171FA7587B48}" srcOrd="0" destOrd="0" parTransId="{6EE24353-C930-4C4C-8A3E-A23AEA8DEFB6}" sibTransId="{F0583863-07CB-4473-A99C-F8C521FDB1B5}"/>
    <dgm:cxn modelId="{9C42A9D9-EF2B-3449-B4B0-D399AC88655E}" type="presParOf" srcId="{66EC7B71-CEA4-4A35-A057-DD6FA3191947}" destId="{AF83AD5B-6F2E-4D9D-B5B8-EC96D6835833}" srcOrd="0" destOrd="0" presId="urn:microsoft.com/office/officeart/2005/8/layout/hProcess9#1"/>
    <dgm:cxn modelId="{97EE6503-0959-D54C-91C4-4B310799906F}" type="presParOf" srcId="{66EC7B71-CEA4-4A35-A057-DD6FA3191947}" destId="{BDE2847C-A99F-483F-843B-A9779A696563}" srcOrd="1" destOrd="0" presId="urn:microsoft.com/office/officeart/2005/8/layout/hProcess9#1"/>
    <dgm:cxn modelId="{5270287D-CA5A-8F40-AD61-8E4C88080A04}" type="presParOf" srcId="{BDE2847C-A99F-483F-843B-A9779A696563}" destId="{C296E892-F201-4613-8D9D-1649568FCA6F}" srcOrd="0" destOrd="0" presId="urn:microsoft.com/office/officeart/2005/8/layout/hProcess9#1"/>
    <dgm:cxn modelId="{424AC42B-2AA5-C34D-9650-D952A044E537}" type="presParOf" srcId="{BDE2847C-A99F-483F-843B-A9779A696563}" destId="{A71814FF-7FE6-4148-A882-7B4BB954BE2B}" srcOrd="1" destOrd="0" presId="urn:microsoft.com/office/officeart/2005/8/layout/hProcess9#1"/>
    <dgm:cxn modelId="{0D01049E-9438-8E46-AE43-E71EA8106D7C}" type="presParOf" srcId="{BDE2847C-A99F-483F-843B-A9779A696563}" destId="{9CA3C9D0-E1A1-4C5D-A143-8E9B274D55CA}" srcOrd="2" destOrd="0" presId="urn:microsoft.com/office/officeart/2005/8/layout/hProcess9#1"/>
    <dgm:cxn modelId="{62096F41-3EE7-D04C-B366-B85D8EE085CE}" type="presParOf" srcId="{BDE2847C-A99F-483F-843B-A9779A696563}" destId="{025D23ED-143B-45BB-9A56-517200E2907B}" srcOrd="3" destOrd="0" presId="urn:microsoft.com/office/officeart/2005/8/layout/hProcess9#1"/>
    <dgm:cxn modelId="{9C480F55-8A21-4143-B54C-376817327E11}" type="presParOf" srcId="{BDE2847C-A99F-483F-843B-A9779A696563}" destId="{D59CAE63-B0E5-4B25-B1C9-B86E5CE83B84}" srcOrd="4" destOrd="0" presId="urn:microsoft.com/office/officeart/2005/8/layout/hProcess9#1"/>
    <dgm:cxn modelId="{3CE56012-12FB-1045-B9F8-BF734283C9BF}" type="presParOf" srcId="{BDE2847C-A99F-483F-843B-A9779A696563}" destId="{774BC7BC-D3F6-462E-AF5D-3533BCE9C7D2}" srcOrd="5" destOrd="0" presId="urn:microsoft.com/office/officeart/2005/8/layout/hProcess9#1"/>
    <dgm:cxn modelId="{E81BA8D1-5E22-AA4F-B634-A0D3AD88210E}" type="presParOf" srcId="{BDE2847C-A99F-483F-843B-A9779A696563}" destId="{964AC93F-0B2F-4E3D-BD59-261CFFCC9C89}" srcOrd="6" destOrd="0" presId="urn:microsoft.com/office/officeart/2005/8/layout/hProcess9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72ED09-3F6D-419A-A538-A1ACBEB34F90}">
      <dsp:nvSpPr>
        <dsp:cNvPr id="0" name=""/>
        <dsp:cNvSpPr/>
      </dsp:nvSpPr>
      <dsp:spPr>
        <a:xfrm>
          <a:off x="111495" y="0"/>
          <a:ext cx="5862563" cy="366410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5ADAA4A-54FF-4D50-B4F4-ED8F377812AE}">
      <dsp:nvSpPr>
        <dsp:cNvPr id="0" name=""/>
        <dsp:cNvSpPr/>
      </dsp:nvSpPr>
      <dsp:spPr>
        <a:xfrm>
          <a:off x="856041" y="2528963"/>
          <a:ext cx="152426" cy="152426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C8DCF75-D488-4F61-80C7-7E749FFBB122}">
      <dsp:nvSpPr>
        <dsp:cNvPr id="0" name=""/>
        <dsp:cNvSpPr/>
      </dsp:nvSpPr>
      <dsp:spPr>
        <a:xfrm>
          <a:off x="723390" y="2777506"/>
          <a:ext cx="1704152" cy="7142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68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b="1" kern="1200" dirty="0"/>
            <a:t>First generation </a:t>
          </a:r>
          <a:r>
            <a:rPr lang="en-MY" sz="1400" kern="1200" dirty="0"/>
            <a:t>(hierarchical, network DBMS) – 1960s</a:t>
          </a:r>
        </a:p>
      </dsp:txBody>
      <dsp:txXfrm>
        <a:off x="723390" y="2777506"/>
        <a:ext cx="1704152" cy="714266"/>
      </dsp:txXfrm>
    </dsp:sp>
    <dsp:sp modelId="{A0D8C4AA-AD8C-4962-938A-6B50D1877E98}">
      <dsp:nvSpPr>
        <dsp:cNvPr id="0" name=""/>
        <dsp:cNvSpPr/>
      </dsp:nvSpPr>
      <dsp:spPr>
        <a:xfrm>
          <a:off x="2201499" y="1533060"/>
          <a:ext cx="275540" cy="27554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3BCB7B-E379-4F8E-A7EB-5F762C0B53F9}">
      <dsp:nvSpPr>
        <dsp:cNvPr id="0" name=""/>
        <dsp:cNvSpPr/>
      </dsp:nvSpPr>
      <dsp:spPr>
        <a:xfrm>
          <a:off x="2181782" y="1894874"/>
          <a:ext cx="1733414" cy="1765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03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b="1" kern="1200" dirty="0"/>
            <a:t>Second generation </a:t>
          </a:r>
          <a:r>
            <a:rPr lang="en-MY" sz="1400" kern="1200" dirty="0"/>
            <a:t>(relational DBMS (RDBMS)) </a:t>
          </a:r>
          <a:br>
            <a:rPr lang="en-MY" sz="1400" kern="1200" dirty="0"/>
          </a:br>
          <a:r>
            <a:rPr lang="en-MY" sz="1400" kern="1200" dirty="0"/>
            <a:t>– late 70s</a:t>
          </a:r>
        </a:p>
      </dsp:txBody>
      <dsp:txXfrm>
        <a:off x="2181782" y="1894874"/>
        <a:ext cx="1733414" cy="1765281"/>
      </dsp:txXfrm>
    </dsp:sp>
    <dsp:sp modelId="{6FD5FFEA-3364-435D-9B25-9F8083141001}">
      <dsp:nvSpPr>
        <dsp:cNvPr id="0" name=""/>
        <dsp:cNvSpPr/>
      </dsp:nvSpPr>
      <dsp:spPr>
        <a:xfrm>
          <a:off x="3819567" y="927017"/>
          <a:ext cx="381066" cy="381066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C05197-0196-4F1D-9C51-3BAE06A7F6D3}">
      <dsp:nvSpPr>
        <dsp:cNvPr id="0" name=""/>
        <dsp:cNvSpPr/>
      </dsp:nvSpPr>
      <dsp:spPr>
        <a:xfrm>
          <a:off x="3894324" y="1315010"/>
          <a:ext cx="1729488" cy="2304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919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b="1" kern="1200" dirty="0"/>
            <a:t>Third generation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/>
            <a:t>(Object-oriented DBMS, Object-relation DBMS)</a:t>
          </a:r>
        </a:p>
      </dsp:txBody>
      <dsp:txXfrm>
        <a:off x="3894324" y="1315010"/>
        <a:ext cx="1729488" cy="23040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83AD5B-6F2E-4D9D-B5B8-EC96D6835833}">
      <dsp:nvSpPr>
        <dsp:cNvPr id="0" name=""/>
        <dsp:cNvSpPr/>
      </dsp:nvSpPr>
      <dsp:spPr>
        <a:xfrm>
          <a:off x="1" y="260765"/>
          <a:ext cx="7886696" cy="4009193"/>
        </a:xfrm>
        <a:prstGeom prst="rightArrow">
          <a:avLst/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96E892-F201-4613-8D9D-1649568FCA6F}">
      <dsp:nvSpPr>
        <dsp:cNvPr id="0" name=""/>
        <dsp:cNvSpPr/>
      </dsp:nvSpPr>
      <dsp:spPr>
        <a:xfrm>
          <a:off x="4873" y="1359217"/>
          <a:ext cx="1869739" cy="1812290"/>
        </a:xfrm>
        <a:prstGeom prst="round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Superkey</a:t>
          </a:r>
        </a:p>
      </dsp:txBody>
      <dsp:txXfrm>
        <a:off x="93342" y="1447686"/>
        <a:ext cx="1692801" cy="1635352"/>
      </dsp:txXfrm>
    </dsp:sp>
    <dsp:sp modelId="{9CA3C9D0-E1A1-4C5D-A143-8E9B274D55CA}">
      <dsp:nvSpPr>
        <dsp:cNvPr id="0" name=""/>
        <dsp:cNvSpPr/>
      </dsp:nvSpPr>
      <dsp:spPr>
        <a:xfrm>
          <a:off x="2007278" y="1359217"/>
          <a:ext cx="1869739" cy="1812290"/>
        </a:xfrm>
        <a:prstGeom prst="round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Candidate Key</a:t>
          </a:r>
        </a:p>
      </dsp:txBody>
      <dsp:txXfrm>
        <a:off x="2095747" y="1447686"/>
        <a:ext cx="1692801" cy="1635352"/>
      </dsp:txXfrm>
    </dsp:sp>
    <dsp:sp modelId="{D59CAE63-B0E5-4B25-B1C9-B86E5CE83B84}">
      <dsp:nvSpPr>
        <dsp:cNvPr id="0" name=""/>
        <dsp:cNvSpPr/>
      </dsp:nvSpPr>
      <dsp:spPr>
        <a:xfrm>
          <a:off x="4020283" y="1332558"/>
          <a:ext cx="1869739" cy="1812290"/>
        </a:xfrm>
        <a:prstGeom prst="round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baseline="0" dirty="0">
              <a:solidFill>
                <a:srgbClr val="FFFF00"/>
              </a:solidFill>
            </a:rPr>
            <a:t>Primary Key</a:t>
          </a:r>
        </a:p>
      </dsp:txBody>
      <dsp:txXfrm>
        <a:off x="4108752" y="1421027"/>
        <a:ext cx="1692801" cy="1635352"/>
      </dsp:txXfrm>
    </dsp:sp>
    <dsp:sp modelId="{964AC93F-0B2F-4E3D-BD59-261CFFCC9C89}">
      <dsp:nvSpPr>
        <dsp:cNvPr id="0" name=""/>
        <dsp:cNvSpPr/>
      </dsp:nvSpPr>
      <dsp:spPr>
        <a:xfrm>
          <a:off x="6012086" y="1359217"/>
          <a:ext cx="1869739" cy="1812290"/>
        </a:xfrm>
        <a:prstGeom prst="round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Foreign Key</a:t>
          </a:r>
        </a:p>
      </dsp:txBody>
      <dsp:txXfrm>
        <a:off x="6100555" y="1447686"/>
        <a:ext cx="1692801" cy="16353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#1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parTxLTRAlign" val="r"/>
                    <dgm:param type="parTxRTLAlign" val="r"/>
                    <dgm:param type="txAnchorVert" val="t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2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3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4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4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5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6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7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7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8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9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0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0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1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1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2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3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4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4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6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70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74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83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87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96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200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#1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1CB005FD-FC8B-4FF4-955B-7EA50B8B0663}" type="datetimeFigureOut">
              <a:rPr lang="en-MY"/>
              <a:t>23/10/2021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7D76A01-9653-4E88-A0A9-E9EA91B8AD2B}" type="slidenum">
              <a:rPr lang="en-MY"/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000" b="1">
                <a:solidFill>
                  <a:srgbClr val="830E3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E503D-3BBB-403C-977F-FD0067D622DF}" type="datetime5">
              <a:rPr lang="en-US" smtClean="0"/>
              <a:t>23-Oct-21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Relational Model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02A6F-F68E-42AE-AE2F-753F71817D8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Relational Model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EF2DB-3D68-4EFF-B92B-90C34555BE4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63450-6B4B-4DCD-9735-08F58B9701F9}" type="datetime5">
              <a:rPr lang="en-US" smtClean="0"/>
              <a:t>23-Oct-21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Relational Model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D5586-745C-4D1D-AC0D-50A29C310C58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6D2D98-BAA0-4BAE-B759-B43DF5CC18A6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Relational Model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69A2C-1C93-4A5E-AA86-D928C00BCD92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D57F3-2CEB-4509-9B0A-0ADE7EB98DCE}" type="datetime5">
              <a:rPr lang="en-US" smtClean="0"/>
              <a:t>23-Oct-21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Relational Model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7D458-EF61-4B7E-AFE9-875D2476F532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1C47D-BBFA-4CC7-885D-00F3E0511E5F}" type="datetime5">
              <a:rPr lang="en-US" smtClean="0"/>
              <a:t>23-Oct-21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Relational Model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95FEE-A042-4E46-858D-E255F286AFAD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EACC1C-74D6-4A52-A3E8-9DE2A80F0B45}" type="datetime5">
              <a:rPr lang="en-US" smtClean="0"/>
              <a:t>23-Oct-21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Relational Model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2C836-3674-4059-90D2-D86E3DE58AF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80292-278B-4E5C-B684-6345AF1CDD32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Relational Model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6BA56-7896-42D5-8307-DADE9CA6683E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82937-C4A3-4562-8D56-88EC02162741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Relational Model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12DB0-978D-4D16-877F-1B531896CD6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5FA3E-EC98-4F3B-9323-3FC896DD2E67}" type="datetime5">
              <a:rPr lang="en-US" smtClean="0"/>
              <a:t>23-Oct-21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Relational Model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4142B-9149-44AD-9D92-D86EB0C2BF77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E11FE8-CD90-4BC6-A312-25B30ED6713E}" type="datetime5">
              <a:rPr lang="en-US" smtClean="0"/>
              <a:t>23-Oct-21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Relational Model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1EE60-E854-4E7C-BF7C-54A65C2A0E6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1457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DB2001B2-1D49-4FD7-A4C8-3641F8FD8A85}" type="datetime5">
              <a:rPr lang="en-US" smtClean="0"/>
              <a:t>23-Oct-21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Relational Model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378DD1A9-E041-452A-A8AB-5B84301EF847}" type="slidenum">
              <a:rPr lang="en-US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830E3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MY" altLang="en-US" dirty="0"/>
              <a:t>Relational Model</a:t>
            </a:r>
          </a:p>
        </p:txBody>
      </p:sp>
      <p:sp>
        <p:nvSpPr>
          <p:cNvPr id="3075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MY" altLang="en-US" dirty="0">
                <a:sym typeface="+mn-ea"/>
              </a:rPr>
              <a:t>SECD2523 Database</a:t>
            </a:r>
            <a:endParaRPr lang="en-MY" altLang="en-US" dirty="0"/>
          </a:p>
          <a:p>
            <a:pPr eaLnBrk="1" hangingPunct="1"/>
            <a:r>
              <a:rPr lang="en-MY" altLang="en-US" dirty="0">
                <a:sym typeface="+mn-ea"/>
              </a:rPr>
              <a:t>Semester 1 2021/2022</a:t>
            </a:r>
            <a:endParaRPr lang="en-MY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MY" altLang="en-US"/>
              <a:t>Learning Objective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028D6C5-A175-4578-A21C-0068DCCE217E}" type="datetime5">
              <a:rPr lang="en-US" smtClean="0"/>
              <a:t>23-Oct-21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AED24-6D37-4D12-96AA-7811E9B0D4A4}" type="slidenum">
              <a:rPr lang="en-US"/>
              <a:t>2</a:t>
            </a:fld>
            <a:endParaRPr lang="en-US"/>
          </a:p>
        </p:txBody>
      </p:sp>
      <p:sp>
        <p:nvSpPr>
          <p:cNvPr id="9" name="Content Placeholder 9"/>
          <p:cNvSpPr>
            <a:spLocks noGrp="1"/>
          </p:cNvSpPr>
          <p:nvPr>
            <p:ph idx="1"/>
          </p:nvPr>
        </p:nvSpPr>
        <p:spPr>
          <a:xfrm>
            <a:off x="628650" y="1646238"/>
            <a:ext cx="7886700" cy="4530725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MY" dirty="0"/>
              <a:t>At the end of this module, students should be able to explain and describe:</a:t>
            </a:r>
          </a:p>
          <a:p>
            <a:pPr lvl="1" eaLnBrk="1" hangingPunct="1">
              <a:defRPr/>
            </a:pPr>
            <a:r>
              <a:rPr lang="en-MY" dirty="0"/>
              <a:t>Terminology of relational model.</a:t>
            </a:r>
          </a:p>
          <a:p>
            <a:pPr lvl="1" eaLnBrk="1" hangingPunct="1">
              <a:defRPr/>
            </a:pPr>
            <a:r>
              <a:rPr lang="en-MY" dirty="0"/>
              <a:t>How tables are used to represent data.</a:t>
            </a:r>
          </a:p>
          <a:p>
            <a:pPr lvl="1" eaLnBrk="1" hangingPunct="1">
              <a:defRPr/>
            </a:pPr>
            <a:r>
              <a:rPr lang="en-MY" dirty="0"/>
              <a:t>Properties of database relations.</a:t>
            </a:r>
          </a:p>
          <a:p>
            <a:pPr lvl="1" eaLnBrk="1" hangingPunct="1">
              <a:defRPr/>
            </a:pPr>
            <a:r>
              <a:rPr lang="en-MY" dirty="0"/>
              <a:t>How to identify candidate, primary, foreign keys.</a:t>
            </a:r>
          </a:p>
          <a:p>
            <a:pPr lvl="1" eaLnBrk="1" hangingPunct="1">
              <a:defRPr/>
            </a:pPr>
            <a:r>
              <a:rPr lang="en-MY" dirty="0"/>
              <a:t>Meaning of entity integrity and referential integrity.</a:t>
            </a:r>
          </a:p>
          <a:p>
            <a:pPr lvl="1" eaLnBrk="1" hangingPunct="1">
              <a:defRPr/>
            </a:pPr>
            <a:r>
              <a:rPr lang="en-MY" dirty="0"/>
              <a:t>Purpose and advantages of views.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Introduction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EB44FB-E235-48E0-854E-B2C94079C53A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7" name="Content Placeholder 1"/>
          <p:cNvGraphicFramePr>
            <a:graphicFrameLocks noGrp="1"/>
          </p:cNvGraphicFramePr>
          <p:nvPr>
            <p:ph idx="1"/>
          </p:nvPr>
        </p:nvGraphicFramePr>
        <p:xfrm>
          <a:off x="728662" y="815359"/>
          <a:ext cx="6085555" cy="36641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8649" y="1400783"/>
            <a:ext cx="22209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000" b="1" dirty="0"/>
              <a:t>DBMS generations: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3920246" y="3785107"/>
            <a:ext cx="5087565" cy="249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RDBMS</a:t>
            </a:r>
            <a:r>
              <a:rPr lang="en-MY" sz="2400" dirty="0"/>
              <a:t> is based on relational data model concepts by E.F. Codd (1970)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400" dirty="0"/>
              <a:t>Simple logical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400" dirty="0"/>
              <a:t>Sound theoretical foundation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400" dirty="0"/>
              <a:t>Data is logically structured within relations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Relational Model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relation</a:t>
            </a:r>
            <a:r>
              <a:rPr lang="en-US" dirty="0"/>
              <a:t> is a table with columns and rows.</a:t>
            </a:r>
          </a:p>
          <a:p>
            <a:pPr lvl="1"/>
            <a:r>
              <a:rPr lang="en-US" dirty="0"/>
              <a:t>Only applies to logical structure of the database, not the physical structure.</a:t>
            </a:r>
          </a:p>
          <a:p>
            <a:r>
              <a:rPr lang="en-US" b="1" dirty="0">
                <a:solidFill>
                  <a:srgbClr val="0070C0"/>
                </a:solidFill>
              </a:rPr>
              <a:t>Attribute</a:t>
            </a:r>
            <a:r>
              <a:rPr lang="en-US" dirty="0"/>
              <a:t> is a named column of a relation.</a:t>
            </a:r>
          </a:p>
          <a:p>
            <a:r>
              <a:rPr lang="en-US" b="1" dirty="0">
                <a:solidFill>
                  <a:srgbClr val="0070C0"/>
                </a:solidFill>
              </a:rPr>
              <a:t>Domain</a:t>
            </a:r>
            <a:r>
              <a:rPr lang="en-US" dirty="0"/>
              <a:t> is the set of allowable values for one or more attributes.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</p:spPr>
        <p:txBody>
          <a:bodyPr/>
          <a:lstStyle/>
          <a:p>
            <a:r>
              <a:rPr lang="en-MY"/>
              <a:t>Examples of Attributes &amp; Domains</a:t>
            </a:r>
            <a:endParaRPr lang="en-MY" dirty="0"/>
          </a:p>
        </p:txBody>
      </p:sp>
      <p:pic>
        <p:nvPicPr>
          <p:cNvPr id="7" name="Content Placeholder 6" descr="A screenshot of a cell phone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633" y="1685925"/>
            <a:ext cx="8504733" cy="311504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457325" cy="365125"/>
          </a:xfrm>
        </p:spPr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66963" y="6492875"/>
            <a:ext cx="674687" cy="365125"/>
          </a:xfrm>
        </p:spPr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Relational Model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Tuple</a:t>
            </a:r>
            <a:r>
              <a:rPr lang="en-US" dirty="0"/>
              <a:t> is a row of a relation.</a:t>
            </a:r>
          </a:p>
          <a:p>
            <a:r>
              <a:rPr lang="en-US" b="1" dirty="0">
                <a:solidFill>
                  <a:srgbClr val="0070C0"/>
                </a:solidFill>
              </a:rPr>
              <a:t>Degree</a:t>
            </a:r>
            <a:r>
              <a:rPr lang="en-US" dirty="0"/>
              <a:t> is the number of attributes in a relation.</a:t>
            </a:r>
          </a:p>
          <a:p>
            <a:r>
              <a:rPr lang="en-US" b="1" dirty="0">
                <a:solidFill>
                  <a:srgbClr val="0070C0"/>
                </a:solidFill>
              </a:rPr>
              <a:t>Cardinality</a:t>
            </a:r>
            <a:r>
              <a:rPr lang="en-US" dirty="0"/>
              <a:t> is the number of tuples in a relation.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Rectangle: Rounded Corners 6"/>
          <p:cNvSpPr/>
          <p:nvPr/>
        </p:nvSpPr>
        <p:spPr>
          <a:xfrm>
            <a:off x="140677" y="3172313"/>
            <a:ext cx="8862646" cy="102161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70C0"/>
                </a:solidFill>
              </a:rPr>
              <a:t>Relational Database </a:t>
            </a:r>
            <a:r>
              <a:rPr lang="en-US" sz="2400" dirty="0"/>
              <a:t>is a collection of relations that is appropriately structured (normalized) with distinct relation names.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236" y="4272908"/>
            <a:ext cx="4555087" cy="214098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2154" y="1491070"/>
            <a:ext cx="5377770" cy="4685893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Alternative Terminology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751016"/>
            <a:ext cx="7886700" cy="2321169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500710" y="2350906"/>
            <a:ext cx="6142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000" b="1" dirty="0"/>
              <a:t>Table</a:t>
            </a:r>
            <a:r>
              <a:rPr lang="en-MY" sz="2000" dirty="0"/>
              <a:t>: Alternative terminology for relational model terms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Database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Relation schema</a:t>
            </a:r>
          </a:p>
          <a:p>
            <a:pPr lvl="1"/>
            <a:r>
              <a:rPr lang="en-US" dirty="0"/>
              <a:t>Named relation defined by a set of attribute and domain name pairs.</a:t>
            </a:r>
          </a:p>
          <a:p>
            <a:pPr lvl="1"/>
            <a:r>
              <a:rPr lang="en-US" dirty="0"/>
              <a:t>Common convention: 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RelationName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(attribute_1, attribute_2,….., </a:t>
            </a:r>
            <a:r>
              <a:rPr lang="en-US" i="1" dirty="0" err="1">
                <a:solidFill>
                  <a:srgbClr val="FF0000"/>
                </a:solidFill>
              </a:rPr>
              <a:t>attribute_n</a:t>
            </a:r>
            <a:r>
              <a:rPr lang="en-US" i="1" dirty="0">
                <a:solidFill>
                  <a:srgbClr val="FF0000"/>
                </a:solidFill>
              </a:rPr>
              <a:t>)</a:t>
            </a:r>
          </a:p>
          <a:p>
            <a:pPr lvl="2"/>
            <a:r>
              <a:rPr lang="en-US" dirty="0"/>
              <a:t>Example: Branch (branchNo, street, city, postcode)</a:t>
            </a:r>
          </a:p>
          <a:p>
            <a:r>
              <a:rPr lang="en-US" b="1" dirty="0">
                <a:solidFill>
                  <a:srgbClr val="0070C0"/>
                </a:solidFill>
              </a:rPr>
              <a:t>Relational database schema</a:t>
            </a:r>
          </a:p>
          <a:p>
            <a:pPr lvl="1"/>
            <a:r>
              <a:rPr lang="en-US" dirty="0"/>
              <a:t>Set of relation schemas, each with a distinct name.</a:t>
            </a:r>
          </a:p>
          <a:p>
            <a:r>
              <a:rPr lang="en-US" b="1" dirty="0">
                <a:solidFill>
                  <a:srgbClr val="0070C0"/>
                </a:solidFill>
              </a:rPr>
              <a:t>Relation instance</a:t>
            </a:r>
          </a:p>
          <a:p>
            <a:pPr lvl="1"/>
            <a:r>
              <a:rPr lang="en-US" dirty="0"/>
              <a:t>A tuple at a specific moment of time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:  (B005, 55 </a:t>
            </a:r>
            <a:r>
              <a:rPr lang="en-US" dirty="0" err="1"/>
              <a:t>Jln</a:t>
            </a:r>
            <a:r>
              <a:rPr lang="en-US" dirty="0"/>
              <a:t> </a:t>
            </a:r>
            <a:r>
              <a:rPr lang="en-US" dirty="0" err="1"/>
              <a:t>Dobi</a:t>
            </a:r>
            <a:r>
              <a:rPr lang="en-US" dirty="0"/>
              <a:t>,  Johor Bahru, 80100)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Properties of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646238"/>
            <a:ext cx="8146073" cy="4530725"/>
          </a:xfrm>
        </p:spPr>
        <p:txBody>
          <a:bodyPr/>
          <a:lstStyle/>
          <a:p>
            <a:r>
              <a:rPr lang="en-GB" altLang="en-US" b="1" dirty="0">
                <a:solidFill>
                  <a:srgbClr val="0070C0"/>
                </a:solidFill>
                <a:ea typeface="MS PGothic" panose="020B0600070205080204" charset="-128"/>
              </a:rPr>
              <a:t>Relation name is distinct </a:t>
            </a:r>
            <a:r>
              <a:rPr lang="en-GB" altLang="en-US" dirty="0">
                <a:ea typeface="MS PGothic" panose="020B0600070205080204" charset="-128"/>
              </a:rPr>
              <a:t>from all other relation names in relational schema.</a:t>
            </a:r>
          </a:p>
          <a:p>
            <a:r>
              <a:rPr lang="en-GB" altLang="en-US" dirty="0">
                <a:ea typeface="MS PGothic" panose="020B0600070205080204" charset="-128"/>
              </a:rPr>
              <a:t>Each cell of relation contains </a:t>
            </a:r>
            <a:r>
              <a:rPr lang="en-GB" altLang="en-US" b="1" dirty="0">
                <a:solidFill>
                  <a:srgbClr val="0070C0"/>
                </a:solidFill>
                <a:ea typeface="MS PGothic" panose="020B0600070205080204" charset="-128"/>
              </a:rPr>
              <a:t>exactly one atomic (single) value</a:t>
            </a:r>
            <a:r>
              <a:rPr lang="en-GB" altLang="en-US" dirty="0">
                <a:solidFill>
                  <a:srgbClr val="0070C0"/>
                </a:solidFill>
                <a:ea typeface="MS PGothic" panose="020B0600070205080204" charset="-128"/>
              </a:rPr>
              <a:t>.</a:t>
            </a:r>
          </a:p>
          <a:p>
            <a:r>
              <a:rPr lang="en-GB" altLang="en-US" dirty="0">
                <a:ea typeface="MS PGothic" panose="020B0600070205080204" charset="-128"/>
              </a:rPr>
              <a:t>Each attribute has a </a:t>
            </a:r>
            <a:r>
              <a:rPr lang="en-GB" altLang="en-US" b="1" dirty="0">
                <a:solidFill>
                  <a:srgbClr val="0070C0"/>
                </a:solidFill>
                <a:ea typeface="MS PGothic" panose="020B0600070205080204" charset="-128"/>
              </a:rPr>
              <a:t>distinct name</a:t>
            </a:r>
            <a:r>
              <a:rPr lang="en-GB" altLang="en-US" dirty="0">
                <a:ea typeface="MS PGothic" panose="020B0600070205080204" charset="-128"/>
              </a:rPr>
              <a:t>.</a:t>
            </a:r>
          </a:p>
          <a:p>
            <a:r>
              <a:rPr lang="en-GB" altLang="en-US" dirty="0">
                <a:ea typeface="MS PGothic" panose="020B0600070205080204" charset="-128"/>
              </a:rPr>
              <a:t>Values of an attribute are all from the same domain.</a:t>
            </a:r>
          </a:p>
          <a:p>
            <a:r>
              <a:rPr lang="en-US" dirty="0"/>
              <a:t>Each tuple is distinct; there are no duplicate tuples.</a:t>
            </a:r>
          </a:p>
          <a:p>
            <a:r>
              <a:rPr lang="en-US" dirty="0"/>
              <a:t>Order of attributes has no significance.</a:t>
            </a:r>
          </a:p>
          <a:p>
            <a:r>
              <a:rPr lang="en-US" dirty="0"/>
              <a:t>Order of tuples has no significance, theoretically.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Relational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Relational keys </a:t>
            </a:r>
          </a:p>
          <a:p>
            <a:pPr lvl="1"/>
            <a:r>
              <a:rPr lang="en-US" dirty="0"/>
              <a:t>One or more attributes in a relation that uniquely identifies each tuple in a relation</a:t>
            </a:r>
          </a:p>
          <a:p>
            <a:pPr lvl="1"/>
            <a:r>
              <a:rPr lang="en-US" dirty="0"/>
              <a:t>Types:</a:t>
            </a:r>
          </a:p>
          <a:p>
            <a:pPr lvl="2"/>
            <a:r>
              <a:rPr lang="en-US" dirty="0"/>
              <a:t>Superkey</a:t>
            </a:r>
          </a:p>
          <a:p>
            <a:pPr lvl="2"/>
            <a:r>
              <a:rPr lang="en-US" dirty="0"/>
              <a:t>Candidate key</a:t>
            </a:r>
          </a:p>
          <a:p>
            <a:pPr lvl="2"/>
            <a:r>
              <a:rPr lang="en-US" dirty="0"/>
              <a:t>Composite key </a:t>
            </a:r>
          </a:p>
          <a:p>
            <a:pPr lvl="2"/>
            <a:r>
              <a:rPr lang="en-US" dirty="0"/>
              <a:t>Primary key</a:t>
            </a:r>
          </a:p>
          <a:p>
            <a:pPr lvl="2"/>
            <a:r>
              <a:rPr lang="en-US" dirty="0"/>
              <a:t>Alternate key</a:t>
            </a:r>
          </a:p>
          <a:p>
            <a:pPr lvl="2"/>
            <a:r>
              <a:rPr lang="en-US" dirty="0"/>
              <a:t>Foreign key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Relational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Superkey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An attribute, or a set of attributes, that uniquely identifies a tuple within a relation.</a:t>
            </a:r>
          </a:p>
          <a:p>
            <a:r>
              <a:rPr lang="en-US" dirty="0"/>
              <a:t>Identify superkeys that contain only the minimum number of attributes necessary for unique identification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Relational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Superkey example: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Branch (branchNo, street, city, postCode)</a:t>
            </a:r>
          </a:p>
          <a:p>
            <a:pPr lvl="1"/>
            <a:r>
              <a:rPr lang="en-US" dirty="0"/>
              <a:t>Each branch has a unique branch number</a:t>
            </a:r>
          </a:p>
          <a:p>
            <a:pPr lvl="1"/>
            <a:r>
              <a:rPr lang="en-US" dirty="0"/>
              <a:t>What is/are superkey(s) for relation Branch?</a:t>
            </a:r>
          </a:p>
          <a:p>
            <a:pPr lvl="2"/>
            <a:r>
              <a:rPr lang="en-US" dirty="0"/>
              <a:t>Analyze each attribute singularly, given a value for the attribute, determine whether a unique tuple can be derived from the relation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if so, then attribute is a superkey</a:t>
            </a:r>
          </a:p>
          <a:p>
            <a:pPr lvl="2"/>
            <a:r>
              <a:rPr lang="en-US" dirty="0"/>
              <a:t>If none of the attribute (singularly) can be a candidate key, then try to combine two (or more) attributes and determine whether the combined attributes can derive a unique tuple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if so, then the combined attributes is a superkey. 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Relational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09714"/>
            <a:ext cx="8205634" cy="4667250"/>
          </a:xfrm>
        </p:spPr>
        <p:txBody>
          <a:bodyPr/>
          <a:lstStyle/>
          <a:p>
            <a:pPr marL="0" indent="0">
              <a:buNone/>
            </a:pPr>
            <a:r>
              <a:rPr lang="en-MY" b="1" dirty="0">
                <a:solidFill>
                  <a:srgbClr val="0070C0"/>
                </a:solidFill>
              </a:rPr>
              <a:t>Candidate Key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 superkey such that no proper subset is a superkey within the relation. </a:t>
            </a:r>
          </a:p>
          <a:p>
            <a:r>
              <a:rPr lang="en-US" sz="2400" dirty="0"/>
              <a:t>Two properties:</a:t>
            </a:r>
          </a:p>
          <a:p>
            <a:pPr lvl="1"/>
            <a:r>
              <a:rPr lang="en-US" dirty="0"/>
              <a:t>In each tuple of relation R, values of K uniquely identify that tuple (</a:t>
            </a:r>
            <a:r>
              <a:rPr lang="en-US" b="1" dirty="0"/>
              <a:t>uniqueness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No proper subset of K has the uniqueness property (</a:t>
            </a:r>
            <a:r>
              <a:rPr lang="en-US" b="1" dirty="0"/>
              <a:t>irreducibility</a:t>
            </a:r>
            <a:r>
              <a:rPr lang="en-US" dirty="0"/>
              <a:t>).</a:t>
            </a:r>
          </a:p>
          <a:p>
            <a:r>
              <a:rPr lang="en-US" sz="2400" dirty="0"/>
              <a:t>If subset of K is a superkey itself, then K is not a candidate key </a:t>
            </a:r>
          </a:p>
          <a:p>
            <a:r>
              <a:rPr lang="en-US" sz="2400" dirty="0"/>
              <a:t>There can be more than one candidate keys in a relation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Relational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ea typeface="MS PGothic" panose="020B0600070205080204" charset="-128"/>
              </a:rPr>
              <a:t>Example (candidate key - CK):</a:t>
            </a:r>
          </a:p>
          <a:p>
            <a:pPr lvl="1"/>
            <a:r>
              <a:rPr lang="en-US" altLang="en-US" sz="2000" dirty="0">
                <a:ea typeface="MS PGothic" panose="020B0600070205080204" charset="-128"/>
              </a:rPr>
              <a:t>Assume we have this list of superkeys for a relation. Determine whether these superkeys are candidate keys.</a:t>
            </a:r>
          </a:p>
          <a:p>
            <a:pPr lvl="2"/>
            <a:r>
              <a:rPr lang="en-US" altLang="en-US" dirty="0">
                <a:solidFill>
                  <a:srgbClr val="0070C0"/>
                </a:solidFill>
                <a:ea typeface="MS PGothic" panose="020B0600070205080204" charset="-128"/>
              </a:rPr>
              <a:t>branchNo</a:t>
            </a:r>
          </a:p>
          <a:p>
            <a:pPr lvl="2"/>
            <a:r>
              <a:rPr lang="en-US" altLang="en-US" dirty="0">
                <a:solidFill>
                  <a:srgbClr val="0070C0"/>
                </a:solidFill>
                <a:ea typeface="MS PGothic" panose="020B0600070205080204" charset="-128"/>
              </a:rPr>
              <a:t>branchNo, city</a:t>
            </a:r>
          </a:p>
          <a:p>
            <a:pPr lvl="2"/>
            <a:r>
              <a:rPr lang="en-US" altLang="en-US" dirty="0">
                <a:solidFill>
                  <a:srgbClr val="0070C0"/>
                </a:solidFill>
                <a:ea typeface="MS PGothic" panose="020B0600070205080204" charset="-128"/>
              </a:rPr>
              <a:t>postCode, branchNo</a:t>
            </a:r>
          </a:p>
          <a:p>
            <a:pPr lvl="2"/>
            <a:r>
              <a:rPr lang="en-US" altLang="en-US" dirty="0">
                <a:ea typeface="MS PGothic" panose="020B0600070205080204" charset="-128"/>
              </a:rPr>
              <a:t>1</a:t>
            </a:r>
            <a:r>
              <a:rPr lang="en-US" altLang="en-US" baseline="30000" dirty="0">
                <a:ea typeface="MS PGothic" panose="020B0600070205080204" charset="-128"/>
              </a:rPr>
              <a:t>st</a:t>
            </a:r>
            <a:r>
              <a:rPr lang="en-US" altLang="en-US" dirty="0">
                <a:ea typeface="MS PGothic" panose="020B0600070205080204" charset="-128"/>
              </a:rPr>
              <a:t> superkey </a:t>
            </a:r>
            <a:r>
              <a:rPr lang="en-US" altLang="en-US" dirty="0">
                <a:ea typeface="MS PGothic" panose="020B0600070205080204" charset="-128"/>
                <a:sym typeface="Wingdings" panose="05000000000000000000" pitchFamily="2" charset="2"/>
              </a:rPr>
              <a:t> </a:t>
            </a:r>
            <a:r>
              <a:rPr lang="en-US" altLang="en-US" dirty="0">
                <a:solidFill>
                  <a:srgbClr val="0070C0"/>
                </a:solidFill>
                <a:ea typeface="MS PGothic" panose="020B0600070205080204" charset="-128"/>
                <a:sym typeface="Wingdings" panose="05000000000000000000" pitchFamily="2" charset="2"/>
              </a:rPr>
              <a:t>branchNo </a:t>
            </a:r>
            <a:r>
              <a:rPr lang="en-US" altLang="en-US" dirty="0">
                <a:ea typeface="MS PGothic" panose="020B0600070205080204" charset="-128"/>
                <a:sym typeface="Wingdings" panose="05000000000000000000" pitchFamily="2" charset="2"/>
              </a:rPr>
              <a:t> </a:t>
            </a:r>
          </a:p>
          <a:p>
            <a:pPr lvl="3"/>
            <a:r>
              <a:rPr lang="en-US" altLang="en-US" dirty="0">
                <a:ea typeface="MS PGothic" panose="020B0600070205080204" charset="-128"/>
                <a:sym typeface="Wingdings" panose="05000000000000000000" pitchFamily="2" charset="2"/>
              </a:rPr>
              <a:t>This superkey has no subset that is a superkey itself, hence branchNo is a CK</a:t>
            </a:r>
          </a:p>
          <a:p>
            <a:pPr lvl="2"/>
            <a:r>
              <a:rPr lang="en-US" altLang="en-US" dirty="0">
                <a:ea typeface="MS PGothic" panose="020B0600070205080204" charset="-128"/>
                <a:sym typeface="Wingdings" panose="05000000000000000000" pitchFamily="2" charset="2"/>
              </a:rPr>
              <a:t>2</a:t>
            </a:r>
            <a:r>
              <a:rPr lang="en-US" altLang="en-US" baseline="30000" dirty="0">
                <a:ea typeface="MS PGothic" panose="020B0600070205080204" charset="-128"/>
                <a:sym typeface="Wingdings" panose="05000000000000000000" pitchFamily="2" charset="2"/>
              </a:rPr>
              <a:t>nd</a:t>
            </a:r>
            <a:r>
              <a:rPr lang="en-US" altLang="en-US" dirty="0">
                <a:ea typeface="MS PGothic" panose="020B0600070205080204" charset="-128"/>
                <a:sym typeface="Wingdings" panose="05000000000000000000" pitchFamily="2" charset="2"/>
              </a:rPr>
              <a:t> superkey  </a:t>
            </a:r>
            <a:r>
              <a:rPr lang="en-US" altLang="en-US" dirty="0">
                <a:solidFill>
                  <a:srgbClr val="0070C0"/>
                </a:solidFill>
                <a:ea typeface="MS PGothic" panose="020B0600070205080204" charset="-128"/>
                <a:sym typeface="Wingdings" panose="05000000000000000000" pitchFamily="2" charset="2"/>
              </a:rPr>
              <a:t>branchNo, city</a:t>
            </a:r>
          </a:p>
          <a:p>
            <a:pPr lvl="3"/>
            <a:r>
              <a:rPr lang="en-US" altLang="en-US" dirty="0">
                <a:ea typeface="MS PGothic" panose="020B0600070205080204" charset="-128"/>
                <a:sym typeface="Wingdings" panose="05000000000000000000" pitchFamily="2" charset="2"/>
              </a:rPr>
              <a:t>This superkey has a subset that is a superkey itself (i.e. branchNo), hence branchNo, city is NOT a CK</a:t>
            </a:r>
          </a:p>
          <a:p>
            <a:pPr lvl="2"/>
            <a:r>
              <a:rPr lang="en-US" altLang="en-US" dirty="0">
                <a:ea typeface="MS PGothic" panose="020B0600070205080204" charset="-128"/>
                <a:sym typeface="Wingdings" panose="05000000000000000000" pitchFamily="2" charset="2"/>
              </a:rPr>
              <a:t>3</a:t>
            </a:r>
            <a:r>
              <a:rPr lang="en-US" altLang="en-US" baseline="30000" dirty="0">
                <a:ea typeface="MS PGothic" panose="020B0600070205080204" charset="-128"/>
                <a:sym typeface="Wingdings" panose="05000000000000000000" pitchFamily="2" charset="2"/>
              </a:rPr>
              <a:t>rd</a:t>
            </a:r>
            <a:r>
              <a:rPr lang="en-US" altLang="en-US" dirty="0">
                <a:ea typeface="MS PGothic" panose="020B0600070205080204" charset="-128"/>
                <a:sym typeface="Wingdings" panose="05000000000000000000" pitchFamily="2" charset="2"/>
              </a:rPr>
              <a:t> superkey  postCode, branchNo</a:t>
            </a:r>
          </a:p>
          <a:p>
            <a:pPr lvl="3"/>
            <a:r>
              <a:rPr lang="en-US" altLang="en-US" dirty="0">
                <a:ea typeface="MS PGothic" panose="020B0600070205080204" charset="-128"/>
                <a:sym typeface="Wingdings" panose="05000000000000000000" pitchFamily="2" charset="2"/>
              </a:rPr>
              <a:t>This superkey has a subset that is a superkey itself (i.e. branchNo), hence postCode, branchNo is NOT a CK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Relational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>
                <a:solidFill>
                  <a:srgbClr val="0070C0"/>
                </a:solidFill>
              </a:rPr>
              <a:t>Composite Key</a:t>
            </a:r>
          </a:p>
          <a:p>
            <a:pPr lvl="1"/>
            <a:r>
              <a:rPr lang="en-MY" dirty="0"/>
              <a:t>When a key consists of more than one attribute.</a:t>
            </a:r>
          </a:p>
          <a:p>
            <a:pPr marL="0" indent="0">
              <a:buNone/>
            </a:pPr>
            <a:r>
              <a:rPr lang="en-MY" b="1" dirty="0">
                <a:solidFill>
                  <a:srgbClr val="0070C0"/>
                </a:solidFill>
              </a:rPr>
              <a:t>Primary Key (PK)</a:t>
            </a:r>
          </a:p>
          <a:p>
            <a:pPr lvl="1"/>
            <a:r>
              <a:rPr lang="en-MY" dirty="0"/>
              <a:t>The candidate key that is selected to identify tuples uniquely within the relation.</a:t>
            </a:r>
          </a:p>
          <a:p>
            <a:pPr marL="0" indent="0">
              <a:buNone/>
            </a:pPr>
            <a:r>
              <a:rPr lang="en-MY" b="1" dirty="0">
                <a:solidFill>
                  <a:srgbClr val="0070C0"/>
                </a:solidFill>
              </a:rPr>
              <a:t>Alternate Key</a:t>
            </a:r>
          </a:p>
          <a:p>
            <a:pPr lvl="1"/>
            <a:r>
              <a:rPr lang="en-MY" dirty="0"/>
              <a:t>The candidate keys that are not selected to be the primary key.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Relational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>
                <a:solidFill>
                  <a:srgbClr val="0070C0"/>
                </a:solidFill>
              </a:rPr>
              <a:t>Foreign Key</a:t>
            </a:r>
          </a:p>
          <a:p>
            <a:pPr lvl="1"/>
            <a:r>
              <a:rPr lang="en-MY" dirty="0"/>
              <a:t>An attribute, or set of attributes, within one relation that matches the candidate key of some (possibly the same) relation.</a:t>
            </a:r>
          </a:p>
          <a:p>
            <a:r>
              <a:rPr lang="en-MY" dirty="0"/>
              <a:t>Indicate a relationship between relations. E.g: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MY" dirty="0">
                <a:solidFill>
                  <a:srgbClr val="0070C0"/>
                </a:solidFill>
              </a:rPr>
              <a:t>Branch (branchNo, street, city, postCode)</a:t>
            </a:r>
          </a:p>
          <a:p>
            <a:pPr lvl="2"/>
            <a:r>
              <a:rPr lang="en-MY" dirty="0"/>
              <a:t>PK </a:t>
            </a:r>
            <a:r>
              <a:rPr lang="en-MY" dirty="0">
                <a:sym typeface="Wingdings" panose="05000000000000000000" pitchFamily="2" charset="2"/>
              </a:rPr>
              <a:t></a:t>
            </a:r>
            <a:r>
              <a:rPr lang="en-MY" dirty="0"/>
              <a:t> branchNo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MY" dirty="0">
                <a:solidFill>
                  <a:srgbClr val="0070C0"/>
                </a:solidFill>
              </a:rPr>
              <a:t>Staff (staffNo, fName, lName, position, sex, DOB, salary, branchNo)</a:t>
            </a:r>
          </a:p>
          <a:p>
            <a:pPr lvl="2"/>
            <a:r>
              <a:rPr lang="en-MY" dirty="0"/>
              <a:t>PK </a:t>
            </a:r>
            <a:r>
              <a:rPr lang="en-MY" dirty="0">
                <a:sym typeface="Wingdings" panose="05000000000000000000" pitchFamily="2" charset="2"/>
              </a:rPr>
              <a:t></a:t>
            </a:r>
            <a:r>
              <a:rPr lang="en-MY" dirty="0"/>
              <a:t> staffNo</a:t>
            </a:r>
          </a:p>
          <a:p>
            <a:pPr lvl="2"/>
            <a:r>
              <a:rPr lang="en-MY" dirty="0"/>
              <a:t>FK </a:t>
            </a:r>
            <a:r>
              <a:rPr lang="en-MY" dirty="0">
                <a:sym typeface="Wingdings" panose="05000000000000000000" pitchFamily="2" charset="2"/>
              </a:rPr>
              <a:t></a:t>
            </a:r>
            <a:r>
              <a:rPr lang="en-MY" dirty="0"/>
              <a:t> branchNo references Branch(branchNo)</a:t>
            </a:r>
          </a:p>
          <a:p>
            <a:pPr marL="514350" indent="-514350">
              <a:buFont typeface="+mj-lt"/>
              <a:buAutoNum type="arabicPeriod"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Relational Keys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18</a:t>
            </a:fld>
            <a:endParaRPr lang="en-US" dirty="0"/>
          </a:p>
        </p:txBody>
      </p:sp>
      <p:graphicFrame>
        <p:nvGraphicFramePr>
          <p:cNvPr id="7" name="Content Placeholder 4"/>
          <p:cNvGraphicFramePr>
            <a:graphicFrameLocks noGrp="1"/>
          </p:cNvGraphicFramePr>
          <p:nvPr>
            <p:ph idx="1"/>
          </p:nvPr>
        </p:nvGraphicFramePr>
        <p:xfrm>
          <a:off x="628650" y="1646238"/>
          <a:ext cx="7886700" cy="4530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Recap on the 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2154" y="1646238"/>
            <a:ext cx="5199691" cy="453072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Integrity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b="1" dirty="0">
                <a:solidFill>
                  <a:srgbClr val="0070C0"/>
                </a:solidFill>
              </a:rPr>
              <a:t>Integrity constraints </a:t>
            </a:r>
            <a:r>
              <a:rPr lang="en-MY" dirty="0"/>
              <a:t>are to ensure correctness / accuracy of data.</a:t>
            </a:r>
          </a:p>
          <a:p>
            <a:pPr lvl="1"/>
            <a:r>
              <a:rPr lang="en-MY" dirty="0"/>
              <a:t>Domain constraints; integrity rules.</a:t>
            </a:r>
          </a:p>
          <a:p>
            <a:r>
              <a:rPr lang="en-MY" b="1" dirty="0">
                <a:solidFill>
                  <a:srgbClr val="0070C0"/>
                </a:solidFill>
              </a:rPr>
              <a:t>Integrity rules</a:t>
            </a:r>
          </a:p>
          <a:p>
            <a:pPr lvl="1"/>
            <a:r>
              <a:rPr lang="en-MY" dirty="0"/>
              <a:t>Constraints or restrictions that apply to all instances of the database.</a:t>
            </a:r>
          </a:p>
          <a:p>
            <a:pPr lvl="1"/>
            <a:r>
              <a:rPr lang="en-MY" dirty="0"/>
              <a:t>Two principal rules:</a:t>
            </a:r>
          </a:p>
          <a:p>
            <a:pPr lvl="2"/>
            <a:r>
              <a:rPr lang="en-MY" dirty="0">
                <a:solidFill>
                  <a:srgbClr val="C00000"/>
                </a:solidFill>
              </a:rPr>
              <a:t>Entity integrity</a:t>
            </a:r>
          </a:p>
          <a:p>
            <a:pPr lvl="2"/>
            <a:r>
              <a:rPr lang="en-MY" dirty="0">
                <a:solidFill>
                  <a:srgbClr val="C00000"/>
                </a:solidFill>
              </a:rPr>
              <a:t>Referential integrity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Integrity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>
                <a:solidFill>
                  <a:srgbClr val="0070C0"/>
                </a:solidFill>
              </a:rPr>
              <a:t>Null</a:t>
            </a:r>
          </a:p>
          <a:p>
            <a:r>
              <a:rPr lang="en-US" dirty="0"/>
              <a:t>Represents value for an attribute that is currently “unknown” or not applicable for tuple.</a:t>
            </a:r>
          </a:p>
          <a:p>
            <a:r>
              <a:rPr lang="en-US" dirty="0"/>
              <a:t>Deals with incomplete or exceptional data.</a:t>
            </a:r>
          </a:p>
          <a:p>
            <a:r>
              <a:rPr lang="en-US" dirty="0"/>
              <a:t>Represents the absence of a value and is not the same as zero or spaces, which are values.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Integrity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Entity Integrity</a:t>
            </a:r>
          </a:p>
          <a:p>
            <a:pPr lvl="1"/>
            <a:r>
              <a:rPr lang="en-US" dirty="0"/>
              <a:t>In a base relation, no attribute of a primary key can be null.</a:t>
            </a:r>
          </a:p>
          <a:p>
            <a:r>
              <a:rPr lang="en-US" b="1" dirty="0">
                <a:solidFill>
                  <a:srgbClr val="0070C0"/>
                </a:solidFill>
              </a:rPr>
              <a:t>Referential Integrity</a:t>
            </a:r>
          </a:p>
          <a:p>
            <a:pPr lvl="1"/>
            <a:r>
              <a:rPr lang="en-US" dirty="0"/>
              <a:t>If foreign key exists in a relation, the foreign key value: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must match a candidate key value of some tuple in its home relation; OR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foreign key value must be wholly null.</a:t>
            </a:r>
          </a:p>
          <a:p>
            <a:r>
              <a:rPr lang="en-US" b="1" dirty="0">
                <a:solidFill>
                  <a:srgbClr val="0070C0"/>
                </a:solidFill>
              </a:rPr>
              <a:t>General Constraints</a:t>
            </a:r>
          </a:p>
          <a:p>
            <a:pPr lvl="1"/>
            <a:r>
              <a:rPr lang="en-US" dirty="0"/>
              <a:t>Additional rules specified by users or database administrators that define or constrain some aspect of the enterprise.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Base Relation</a:t>
            </a:r>
          </a:p>
          <a:p>
            <a:r>
              <a:rPr lang="en-US" dirty="0"/>
              <a:t>A named relation corresponding to an entity in conceptual schema, whose tuples are physically stored in database.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View</a:t>
            </a:r>
          </a:p>
          <a:p>
            <a:r>
              <a:rPr lang="en-US" dirty="0"/>
              <a:t>The dynamic result of one or more relational operations operating on base relations to produce another relation. 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virtual relation </a:t>
            </a:r>
            <a:r>
              <a:rPr lang="en-US" dirty="0"/>
              <a:t>that does not necessarily actually exist in the database but is produced </a:t>
            </a:r>
            <a:r>
              <a:rPr lang="en-US" b="1" dirty="0">
                <a:solidFill>
                  <a:srgbClr val="0070C0"/>
                </a:solidFill>
              </a:rPr>
              <a:t>upon request</a:t>
            </a:r>
            <a:r>
              <a:rPr lang="en-US" dirty="0"/>
              <a:t>, at time of request.</a:t>
            </a:r>
          </a:p>
          <a:p>
            <a:r>
              <a:rPr lang="en-US" dirty="0"/>
              <a:t>Contents of a view are defined as a query on one or more base relations. </a:t>
            </a:r>
          </a:p>
          <a:p>
            <a:r>
              <a:rPr lang="en-US" dirty="0"/>
              <a:t>Views are dynamic, meaning that changes made to base relations that affect view attributes are immediately reflected in the view. 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24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Purpose of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powerful and flexible security mechanism by hiding parts of database from certain users. </a:t>
            </a:r>
          </a:p>
          <a:p>
            <a:r>
              <a:rPr lang="en-US" dirty="0"/>
              <a:t>Permits users to access data in a customized way, so that same data can be seen by different users in different ways, at same time.</a:t>
            </a:r>
          </a:p>
          <a:p>
            <a:r>
              <a:rPr lang="en-US" dirty="0"/>
              <a:t>Can simplify complex operations on base relations. 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25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Updating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6238"/>
            <a:ext cx="8205634" cy="4530725"/>
          </a:xfrm>
        </p:spPr>
        <p:txBody>
          <a:bodyPr/>
          <a:lstStyle/>
          <a:p>
            <a:r>
              <a:rPr lang="en-US" dirty="0"/>
              <a:t>All updates to a base relation should be immediately reflected in all views that reference that base relation. If view is updated, underlying base relation should reflect change.</a:t>
            </a:r>
          </a:p>
          <a:p>
            <a:r>
              <a:rPr lang="en-US" dirty="0"/>
              <a:t>There are restrictions on types of modifications that can be made through views:</a:t>
            </a:r>
          </a:p>
          <a:p>
            <a:pPr lvl="1"/>
            <a:r>
              <a:rPr lang="en-US" dirty="0"/>
              <a:t>Updates are allowed if query involves a single base relation and contains a candidate key of base relation.</a:t>
            </a:r>
          </a:p>
          <a:p>
            <a:pPr lvl="1"/>
            <a:r>
              <a:rPr lang="en-US" dirty="0"/>
              <a:t>Updates are not allowed when query involves multiple base relations.</a:t>
            </a:r>
          </a:p>
          <a:p>
            <a:pPr lvl="1"/>
            <a:r>
              <a:rPr lang="en-US" dirty="0"/>
              <a:t>Updates are not allowed when query involves aggregation or grouping operations.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26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Terminologies – relation, relational schema</a:t>
            </a:r>
          </a:p>
          <a:p>
            <a:r>
              <a:rPr lang="en-US" dirty="0"/>
              <a:t>Keys – super key, candidate key, composite key, primary key, foreign key, alternate key</a:t>
            </a:r>
          </a:p>
          <a:p>
            <a:r>
              <a:rPr lang="en-US" dirty="0"/>
              <a:t>Integrity constraint</a:t>
            </a:r>
          </a:p>
          <a:p>
            <a:r>
              <a:rPr lang="en-US" dirty="0"/>
              <a:t>View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FF5CC-AFBD-4B14-B26E-A8415D949DCD}" type="datetime5">
              <a:rPr lang="en-US" smtClean="0"/>
              <a:t>23-Oct-21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27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1412</Words>
  <Application>Microsoft Office PowerPoint</Application>
  <PresentationFormat>On-screen Show (4:3)</PresentationFormat>
  <Paragraphs>215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Relational Model</vt:lpstr>
      <vt:lpstr>Learning Objective</vt:lpstr>
      <vt:lpstr>Introduction</vt:lpstr>
      <vt:lpstr>Relational Model Terminology</vt:lpstr>
      <vt:lpstr>Examples of Attributes &amp; Domains</vt:lpstr>
      <vt:lpstr>Relational Model Terminology</vt:lpstr>
      <vt:lpstr>Examples</vt:lpstr>
      <vt:lpstr>Alternative Terminology </vt:lpstr>
      <vt:lpstr>Database Relations</vt:lpstr>
      <vt:lpstr>Properties of Relations</vt:lpstr>
      <vt:lpstr>Relational Keys</vt:lpstr>
      <vt:lpstr>Relational Keys</vt:lpstr>
      <vt:lpstr>Relational Keys</vt:lpstr>
      <vt:lpstr>Relational Keys</vt:lpstr>
      <vt:lpstr>Relational Keys</vt:lpstr>
      <vt:lpstr>Relational Keys</vt:lpstr>
      <vt:lpstr>Relational Keys</vt:lpstr>
      <vt:lpstr>Relational Keys</vt:lpstr>
      <vt:lpstr>Recap on the example</vt:lpstr>
      <vt:lpstr>Integrity Constraints</vt:lpstr>
      <vt:lpstr>Integrity Constraints</vt:lpstr>
      <vt:lpstr>Integrity Constraints</vt:lpstr>
      <vt:lpstr>Views</vt:lpstr>
      <vt:lpstr>Views</vt:lpstr>
      <vt:lpstr>Purpose of Views</vt:lpstr>
      <vt:lpstr>Updating Views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Noor Hidayah Zakaria</cp:lastModifiedBy>
  <cp:revision>39</cp:revision>
  <dcterms:created xsi:type="dcterms:W3CDTF">2019-01-07T08:53:00Z</dcterms:created>
  <dcterms:modified xsi:type="dcterms:W3CDTF">2021-10-23T00:54:09Z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