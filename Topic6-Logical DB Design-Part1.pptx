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3" r:id="rId32"/>
    <p:sldId id="294" r:id="rId3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830E3E"/>
    <a:srgbClr val="FFC000"/>
    <a:srgbClr val="E2A22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12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r Hidayah Zakaria" userId="2012cd112c08583f" providerId="LiveId" clId="{F3DC8E54-FE29-40A2-97CB-5563509FBF37}"/>
    <pc:docChg chg="delSld modSld">
      <pc:chgData name="Noor Hidayah Zakaria" userId="2012cd112c08583f" providerId="LiveId" clId="{F3DC8E54-FE29-40A2-97CB-5563509FBF37}" dt="2020-12-20T22:28:02.033" v="8" actId="47"/>
      <pc:docMkLst>
        <pc:docMk/>
      </pc:docMkLst>
      <pc:sldChg chg="modSp mod">
        <pc:chgData name="Noor Hidayah Zakaria" userId="2012cd112c08583f" providerId="LiveId" clId="{F3DC8E54-FE29-40A2-97CB-5563509FBF37}" dt="2020-12-13T03:27:35.916" v="3" actId="113"/>
        <pc:sldMkLst>
          <pc:docMk/>
          <pc:sldMk cId="0" sldId="261"/>
        </pc:sldMkLst>
        <pc:spChg chg="mod">
          <ac:chgData name="Noor Hidayah Zakaria" userId="2012cd112c08583f" providerId="LiveId" clId="{F3DC8E54-FE29-40A2-97CB-5563509FBF37}" dt="2020-12-13T03:27:35.916" v="3" actId="113"/>
          <ac:spMkLst>
            <pc:docMk/>
            <pc:sldMk cId="0" sldId="261"/>
            <ac:spMk id="3" creationId="{00000000-0000-0000-0000-000000000000}"/>
          </ac:spMkLst>
        </pc:spChg>
        <pc:spChg chg="mod">
          <ac:chgData name="Noor Hidayah Zakaria" userId="2012cd112c08583f" providerId="LiveId" clId="{F3DC8E54-FE29-40A2-97CB-5563509FBF37}" dt="2020-12-13T03:27:03.379" v="2" actId="14100"/>
          <ac:spMkLst>
            <pc:docMk/>
            <pc:sldMk cId="0" sldId="261"/>
            <ac:spMk id="9" creationId="{00000000-0000-0000-0000-000000000000}"/>
          </ac:spMkLst>
        </pc:spChg>
        <pc:picChg chg="mod">
          <ac:chgData name="Noor Hidayah Zakaria" userId="2012cd112c08583f" providerId="LiveId" clId="{F3DC8E54-FE29-40A2-97CB-5563509FBF37}" dt="2020-12-13T03:27:00.254" v="1" actId="1076"/>
          <ac:picMkLst>
            <pc:docMk/>
            <pc:sldMk cId="0" sldId="261"/>
            <ac:picMk id="8" creationId="{00000000-0000-0000-0000-000000000000}"/>
          </ac:picMkLst>
        </pc:picChg>
      </pc:sldChg>
      <pc:sldChg chg="del">
        <pc:chgData name="Noor Hidayah Zakaria" userId="2012cd112c08583f" providerId="LiveId" clId="{F3DC8E54-FE29-40A2-97CB-5563509FBF37}" dt="2020-12-20T22:28:00.431" v="5" actId="47"/>
        <pc:sldMkLst>
          <pc:docMk/>
          <pc:sldMk cId="0" sldId="289"/>
        </pc:sldMkLst>
      </pc:sldChg>
      <pc:sldChg chg="modSp del mod">
        <pc:chgData name="Noor Hidayah Zakaria" userId="2012cd112c08583f" providerId="LiveId" clId="{F3DC8E54-FE29-40A2-97CB-5563509FBF37}" dt="2020-12-20T22:28:01.481" v="7" actId="47"/>
        <pc:sldMkLst>
          <pc:docMk/>
          <pc:sldMk cId="0" sldId="290"/>
        </pc:sldMkLst>
        <pc:picChg chg="mod">
          <ac:chgData name="Noor Hidayah Zakaria" userId="2012cd112c08583f" providerId="LiveId" clId="{F3DC8E54-FE29-40A2-97CB-5563509FBF37}" dt="2020-12-13T03:47:20.250" v="4" actId="1076"/>
          <ac:picMkLst>
            <pc:docMk/>
            <pc:sldMk cId="0" sldId="290"/>
            <ac:picMk id="10" creationId="{00000000-0000-0000-0000-000000000000}"/>
          </ac:picMkLst>
        </pc:picChg>
      </pc:sldChg>
      <pc:sldChg chg="del">
        <pc:chgData name="Noor Hidayah Zakaria" userId="2012cd112c08583f" providerId="LiveId" clId="{F3DC8E54-FE29-40A2-97CB-5563509FBF37}" dt="2020-12-20T22:28:02.033" v="8" actId="47"/>
        <pc:sldMkLst>
          <pc:docMk/>
          <pc:sldMk cId="0" sldId="291"/>
        </pc:sldMkLst>
      </pc:sldChg>
      <pc:sldChg chg="del">
        <pc:chgData name="Noor Hidayah Zakaria" userId="2012cd112c08583f" providerId="LiveId" clId="{F3DC8E54-FE29-40A2-97CB-5563509FBF37}" dt="2020-12-20T22:28:00.942" v="6" actId="47"/>
        <pc:sldMkLst>
          <pc:docMk/>
          <pc:sldMk cId="0" sldId="292"/>
        </pc:sldMkLst>
      </pc:sldChg>
    </pc:docChg>
  </pc:docChgLst>
  <pc:docChgLst>
    <pc:chgData name="Noor Hidayah Zakaria" userId="2012cd112c08583f" providerId="LiveId" clId="{43A8C0AA-377E-4D54-8E6B-848B04156A78}"/>
    <pc:docChg chg="modSld">
      <pc:chgData name="Noor Hidayah Zakaria" userId="2012cd112c08583f" providerId="LiveId" clId="{43A8C0AA-377E-4D54-8E6B-848B04156A78}" dt="2021-04-17T04:43:31.799" v="12" actId="20577"/>
      <pc:docMkLst>
        <pc:docMk/>
      </pc:docMkLst>
      <pc:sldChg chg="modSp mod">
        <pc:chgData name="Noor Hidayah Zakaria" userId="2012cd112c08583f" providerId="LiveId" clId="{43A8C0AA-377E-4D54-8E6B-848B04156A78}" dt="2021-04-17T04:43:31.799" v="12" actId="20577"/>
        <pc:sldMkLst>
          <pc:docMk/>
          <pc:sldMk cId="0" sldId="256"/>
        </pc:sldMkLst>
        <pc:spChg chg="mod">
          <ac:chgData name="Noor Hidayah Zakaria" userId="2012cd112c08583f" providerId="LiveId" clId="{43A8C0AA-377E-4D54-8E6B-848B04156A78}" dt="2021-04-17T04:43:31.799" v="12" actId="20577"/>
          <ac:spMkLst>
            <pc:docMk/>
            <pc:sldMk cId="0" sldId="256"/>
            <ac:spMk id="30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17/4/2021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D3CF4-109C-4FE6-80A1-A3A7C4A1C9CB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9EEA4-F828-495B-BB5A-5FB94BA1BC38}" type="datetime5">
              <a:rPr lang="en-US" smtClean="0"/>
              <a:t>17-Apr-21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5FE1A-A964-4647-9635-298DB85DE0B7}" type="datetime5">
              <a:rPr lang="en-US" smtClean="0"/>
              <a:t>17-Apr-21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81167-40B2-482E-B456-76549DF86949}" type="datetime5">
              <a:rPr lang="en-US" smtClean="0"/>
              <a:t>17-Apr-21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FF6C9-4AD5-4411-8649-D6F984D48FA4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886AE-B655-4509-BBFC-5689C148EBF3}" type="datetime5">
              <a:rPr lang="en-US" smtClean="0"/>
              <a:t>17-Apr-21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5C2DC-1E95-407C-A89D-3B39847998E9}" type="datetime5">
              <a:rPr lang="en-US" smtClean="0"/>
              <a:t>17-Apr-21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A5EB6-3131-4EF5-A2E7-0C93C1B8B406}" type="datetime5">
              <a:rPr lang="en-US" smtClean="0"/>
              <a:t>17-Apr-21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9568F-F0D6-403B-AB3A-3B8E3EBB0E11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A88C3-B177-42F3-BE2F-8B9EBCC4D498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C07FC852-7401-44AF-9A8B-892E1107FF64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sz="3200" dirty="0"/>
              <a:t>Logical Database Design (Part 1)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>
                <a:sym typeface="+mn-ea"/>
              </a:rPr>
              <a:t>SECD/SCSD2523 </a:t>
            </a:r>
            <a:r>
              <a:rPr lang="en-MY" altLang="en-US" dirty="0">
                <a:sym typeface="+mn-ea"/>
              </a:rPr>
              <a:t>Database</a:t>
            </a:r>
            <a:endParaRPr lang="en-MY" altLang="en-US" dirty="0"/>
          </a:p>
          <a:p>
            <a:pPr eaLnBrk="1" hangingPunct="1"/>
            <a:r>
              <a:rPr lang="en-MY" altLang="en-US" dirty="0">
                <a:sym typeface="+mn-ea"/>
              </a:rPr>
              <a:t>Semester 2 2020/2021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the topic, students will be able to:</a:t>
            </a:r>
          </a:p>
          <a:p>
            <a:pPr lvl="1"/>
            <a:r>
              <a:rPr lang="en-US" dirty="0"/>
              <a:t>Derive a logical data model from conceptual ERD.</a:t>
            </a:r>
          </a:p>
          <a:p>
            <a:pPr lvl="1"/>
            <a:r>
              <a:rPr lang="en-US" dirty="0"/>
              <a:t>Derive a set of relations from a local logical data model.</a:t>
            </a:r>
          </a:p>
          <a:p>
            <a:pPr lvl="1"/>
            <a:r>
              <a:rPr lang="en-US" dirty="0"/>
              <a:t>Validate these relations using the technique of normalization. </a:t>
            </a:r>
          </a:p>
          <a:p>
            <a:pPr lvl="1"/>
            <a:r>
              <a:rPr lang="en-US" dirty="0"/>
              <a:t>Validate a logical data model to ensure it supports required user transactions.</a:t>
            </a:r>
          </a:p>
          <a:p>
            <a:pPr lvl="1"/>
            <a:r>
              <a:rPr lang="en-US" dirty="0"/>
              <a:t>Merge local logical data models based on specific views into a global logical data model of the enterprise.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F18F9C-A22E-481F-9437-E53BA71DC644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Logical Database Design Phase: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0070C0"/>
                </a:solidFill>
              </a:rPr>
              <a:t>METHODOLOGY REVIEW</a:t>
            </a:r>
            <a:r>
              <a:rPr lang="en-MY" b="1" dirty="0"/>
              <a:t>:</a:t>
            </a:r>
          </a:p>
          <a:p>
            <a:pPr lvl="1"/>
            <a:r>
              <a:rPr lang="en-MY" dirty="0"/>
              <a:t>Build and validate local logical data model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Input</a:t>
            </a:r>
            <a:r>
              <a:rPr lang="en-MY" dirty="0"/>
              <a:t>: Conceptual data model (e.g.: conceptual ERD) &amp; Data dictionary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Output</a:t>
            </a:r>
            <a:r>
              <a:rPr lang="en-MY" dirty="0"/>
              <a:t>: Relational DB schemas (e.g.: the relations) &amp; Logical data model (e.g.: Logical ERD)</a:t>
            </a:r>
          </a:p>
          <a:p>
            <a:pPr lvl="1"/>
            <a:r>
              <a:rPr lang="en-MY" dirty="0"/>
              <a:t>Steps: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b="1" dirty="0">
                <a:solidFill>
                  <a:srgbClr val="0070C0"/>
                </a:solidFill>
              </a:rPr>
              <a:t>Derive relations for local logical data model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Validate relations using normalization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Validate relations against user transactions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Define integrity constraints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Review local logical data model with user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Merge logical data models into global model (optional)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MY" dirty="0"/>
              <a:t>Check for future growth</a:t>
            </a:r>
          </a:p>
          <a:p>
            <a:pPr lvl="1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567C6F-6C5A-4763-807D-2DF1CFB72261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conceptual data model: Staff View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16" y="1277315"/>
            <a:ext cx="5550568" cy="4998072"/>
          </a:xfrm>
          <a:prstGeom prst="rect">
            <a:avLst/>
          </a:prstGeom>
        </p:spPr>
      </p:pic>
      <p:sp>
        <p:nvSpPr>
          <p:cNvPr id="8" name="Cloud Callout 6"/>
          <p:cNvSpPr>
            <a:spLocks noChangeArrowheads="1"/>
          </p:cNvSpPr>
          <p:nvPr/>
        </p:nvSpPr>
        <p:spPr bwMode="auto">
          <a:xfrm>
            <a:off x="6462873" y="1387385"/>
            <a:ext cx="2335343" cy="1634060"/>
          </a:xfrm>
          <a:prstGeom prst="cloudCallout">
            <a:avLst>
              <a:gd name="adj1" fmla="val -49000"/>
              <a:gd name="adj2" fmla="val 71602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we are using this data model as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Derive Relations for Local Logical Data Model</a:t>
            </a:r>
            <a:endParaRPr lang="en-MY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To create relations </a:t>
            </a:r>
            <a:r>
              <a:rPr lang="en-US" dirty="0"/>
              <a:t>for the local logical data model that represent the entities, relationships, and attributes identified in the conceptual data model (conceptual ERD – </a:t>
            </a:r>
            <a:r>
              <a:rPr lang="en-US" dirty="0" err="1"/>
              <a:t>cERD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Must consider following structure you may have in </a:t>
            </a:r>
            <a:r>
              <a:rPr lang="en-US" dirty="0" err="1"/>
              <a:t>cERD</a:t>
            </a:r>
            <a:r>
              <a:rPr lang="en-US" dirty="0"/>
              <a:t>: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Strong entity type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Weak entity type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One-to-many (1:*)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Superclass/subclass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Recursive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Complex relationship types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>
                <a:solidFill>
                  <a:srgbClr val="0070C0"/>
                </a:solidFill>
              </a:rPr>
              <a:t>Multi-valued attributes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4119813" cy="453072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Strong entity types</a:t>
            </a:r>
          </a:p>
          <a:p>
            <a:pPr lvl="1"/>
            <a:r>
              <a:rPr lang="en-US" b="1" dirty="0"/>
              <a:t>Create a relation </a:t>
            </a:r>
            <a:r>
              <a:rPr lang="en-US" dirty="0"/>
              <a:t>for each strong entity that includes all simple attributes of that entity. </a:t>
            </a:r>
          </a:p>
          <a:p>
            <a:pPr lvl="1"/>
            <a:r>
              <a:rPr lang="en-US" dirty="0"/>
              <a:t>For composite attributes, include only constituent simple attributes.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650" y="4224005"/>
            <a:ext cx="7886701" cy="20320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 dirty="0"/>
              <a:t>Strong entity (from slide 4): </a:t>
            </a:r>
            <a:r>
              <a:rPr lang="en-GB" altLang="en-US" sz="2000" i="1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** entity with PK identified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sz="2000" dirty="0">
                <a:solidFill>
                  <a:srgbClr val="0000CC"/>
                </a:solidFill>
              </a:rPr>
              <a:t>Staff, Client, </a:t>
            </a:r>
            <a:r>
              <a:rPr lang="en-GB" altLang="en-US" sz="2000" dirty="0" err="1">
                <a:solidFill>
                  <a:srgbClr val="0000CC"/>
                </a:solidFill>
              </a:rPr>
              <a:t>PropertyForRent</a:t>
            </a:r>
            <a:r>
              <a:rPr lang="en-GB" altLang="en-US" sz="2000" dirty="0">
                <a:solidFill>
                  <a:srgbClr val="0000CC"/>
                </a:solidFill>
              </a:rPr>
              <a:t>, Lease, Owner</a:t>
            </a:r>
          </a:p>
          <a:p>
            <a:pPr eaLnBrk="1" hangingPunct="1"/>
            <a:endParaRPr lang="en-GB" altLang="en-US" sz="2000" dirty="0">
              <a:solidFill>
                <a:srgbClr val="0066FF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latin typeface="Century Gothic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 eaLnBrk="1" hangingPunct="1"/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 (</a:t>
            </a:r>
            <a:r>
              <a:rPr lang="en-US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position, sex, DOB)</a:t>
            </a:r>
          </a:p>
          <a:p>
            <a:pPr lvl="1" eaLnBrk="1" hangingPunct="1"/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 (</a:t>
            </a:r>
            <a:r>
              <a:rPr lang="en-GB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GB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 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724" y="1422642"/>
            <a:ext cx="3534268" cy="25435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81083" y="1368070"/>
            <a:ext cx="932038" cy="11826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/>
          <p:cNvSpPr/>
          <p:nvPr/>
        </p:nvSpPr>
        <p:spPr>
          <a:xfrm>
            <a:off x="7360327" y="2886931"/>
            <a:ext cx="1155023" cy="1024669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TextBox 10"/>
          <p:cNvSpPr txBox="1"/>
          <p:nvPr/>
        </p:nvSpPr>
        <p:spPr>
          <a:xfrm>
            <a:off x="5707562" y="3879100"/>
            <a:ext cx="1871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200" dirty="0"/>
              <a:t>Portion of ERD from slide 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Weak entity types</a:t>
            </a:r>
          </a:p>
          <a:p>
            <a:pPr lvl="1"/>
            <a:r>
              <a:rPr lang="en-US" dirty="0"/>
              <a:t>Create a relation that includes all simple attributes of that entity.</a:t>
            </a:r>
          </a:p>
          <a:p>
            <a:pPr lvl="1"/>
            <a:r>
              <a:rPr lang="en-US" dirty="0"/>
              <a:t>Primary key is partially or fully derived from each owner entity</a:t>
            </a:r>
          </a:p>
          <a:p>
            <a:pPr lvl="2"/>
            <a:r>
              <a:rPr lang="en-US" dirty="0"/>
              <a:t>Usually can be made after all relationship with owner entities have been mapped.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0550" y="3654424"/>
            <a:ext cx="7924800" cy="193833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ea typeface="Times New Roman" panose="02020603050405020304" charset="0"/>
                <a:cs typeface="Times New Roman" panose="02020603050405020304" charset="0"/>
              </a:rPr>
              <a:t>Example of weak entity: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CC"/>
                </a:solidFill>
                <a:ea typeface="Times New Roman" panose="02020603050405020304" charset="0"/>
                <a:cs typeface="Times New Roman" panose="02020603050405020304" charset="0"/>
              </a:rPr>
              <a:t>Preference</a:t>
            </a:r>
          </a:p>
          <a:p>
            <a:pPr lvl="2" eaLnBrk="1" hangingPunct="1"/>
            <a:endParaRPr lang="en-US" altLang="en-US" sz="2400" dirty="0">
              <a:ea typeface="Times New Roman" panose="02020603050405020304" charset="0"/>
              <a:cs typeface="Times New Roman" panose="02020603050405020304" charset="0"/>
            </a:endParaRPr>
          </a:p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PREFERENCE (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lvl="3" eaLnBrk="1" hangingPunct="1"/>
            <a:r>
              <a:rPr lang="en-US" altLang="en-US" sz="2400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Primary Key : None (at present)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One-to-many (1:*) binary relationship types</a:t>
            </a:r>
          </a:p>
          <a:p>
            <a:pPr lvl="1"/>
            <a:r>
              <a:rPr lang="en-US" dirty="0"/>
              <a:t>Identify parent &amp; child entity by using cardinality.</a:t>
            </a:r>
          </a:p>
          <a:p>
            <a:pPr lvl="2"/>
            <a:r>
              <a:rPr lang="en-US" dirty="0"/>
              <a:t>Entity on ‘</a:t>
            </a:r>
            <a:r>
              <a:rPr lang="en-US" b="1" dirty="0">
                <a:solidFill>
                  <a:srgbClr val="0070C0"/>
                </a:solidFill>
              </a:rPr>
              <a:t>one</a:t>
            </a:r>
            <a:r>
              <a:rPr lang="en-US" dirty="0"/>
              <a:t>’ side is designated as </a:t>
            </a:r>
            <a:r>
              <a:rPr lang="en-US" b="1" dirty="0">
                <a:solidFill>
                  <a:srgbClr val="0070C0"/>
                </a:solidFill>
              </a:rPr>
              <a:t>parent</a:t>
            </a:r>
            <a:r>
              <a:rPr lang="en-US" dirty="0"/>
              <a:t> entity.</a:t>
            </a:r>
          </a:p>
          <a:p>
            <a:pPr lvl="2"/>
            <a:r>
              <a:rPr lang="en-US" dirty="0"/>
              <a:t>Entity on ‘</a:t>
            </a:r>
            <a:r>
              <a:rPr lang="en-US" b="1" dirty="0">
                <a:solidFill>
                  <a:srgbClr val="0070C0"/>
                </a:solidFill>
              </a:rPr>
              <a:t>many</a:t>
            </a:r>
            <a:r>
              <a:rPr lang="en-US" dirty="0"/>
              <a:t>’ side is the </a:t>
            </a:r>
            <a:r>
              <a:rPr lang="en-US" b="1" dirty="0">
                <a:solidFill>
                  <a:srgbClr val="0070C0"/>
                </a:solidFill>
              </a:rPr>
              <a:t>child</a:t>
            </a:r>
            <a:r>
              <a:rPr lang="en-US" dirty="0"/>
              <a:t> entity.</a:t>
            </a:r>
          </a:p>
          <a:p>
            <a:pPr lvl="1"/>
            <a:r>
              <a:rPr lang="en-US" dirty="0"/>
              <a:t>Copy the primary key attribute of parent entity into relation representing child entity, to act as a foreign key.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71500" y="3881437"/>
            <a:ext cx="8001000" cy="163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Relationship Registers between Staff and Client</a:t>
            </a:r>
          </a:p>
          <a:p>
            <a:pPr lvl="1" eaLnBrk="1" hangingPunct="1"/>
            <a:r>
              <a:rPr lang="en-US" altLang="en-US" sz="2000" dirty="0">
                <a:solidFill>
                  <a:srgbClr val="C00000"/>
                </a:solidFill>
              </a:rPr>
              <a:t>Parent </a:t>
            </a:r>
            <a:r>
              <a:rPr lang="en-US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 Staff</a:t>
            </a:r>
            <a:r>
              <a:rPr lang="en-US" altLang="en-US" sz="2000" dirty="0">
                <a:sym typeface="Wingdings" panose="05000000000000000000" pitchFamily="2" charset="2"/>
              </a:rPr>
              <a:t>		</a:t>
            </a:r>
            <a:r>
              <a:rPr lang="en-US" altLang="en-US" sz="2000" dirty="0">
                <a:solidFill>
                  <a:srgbClr val="0000CC"/>
                </a:solidFill>
                <a:sym typeface="Wingdings" panose="05000000000000000000" pitchFamily="2" charset="2"/>
              </a:rPr>
              <a:t>Child  Client</a:t>
            </a:r>
          </a:p>
          <a:p>
            <a:pPr eaLnBrk="1" hangingPunct="1"/>
            <a:endParaRPr lang="en-US" altLang="en-US" sz="2000" dirty="0">
              <a:solidFill>
                <a:srgbClr val="0066FF"/>
              </a:solidFill>
              <a:latin typeface="Times New Roman" panose="0202060305040502030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 (</a:t>
            </a:r>
            <a:r>
              <a:rPr lang="en-US" altLang="en-US" sz="20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position, sex, DOB)</a:t>
            </a:r>
          </a:p>
          <a:p>
            <a:pPr eaLnBrk="1" hangingPunct="1"/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CLIENT (</a:t>
            </a:r>
            <a:r>
              <a:rPr lang="en-US" altLang="en-US" sz="2000" u="sng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lvl="1"/>
            <a:r>
              <a:rPr lang="en-US" dirty="0"/>
              <a:t>More complex as cardinality cannot be used to identify parent and child entities in a relationship.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0070C0"/>
                </a:solidFill>
              </a:rPr>
              <a:t>participation</a:t>
            </a:r>
            <a:r>
              <a:rPr lang="en-US" dirty="0"/>
              <a:t> to decide whether to combine entities to produce one relation or to create two relations and post copy of primary key from one relation to another.</a:t>
            </a:r>
          </a:p>
          <a:p>
            <a:pPr lvl="1"/>
            <a:r>
              <a:rPr lang="en-US" dirty="0"/>
              <a:t>Consider the following participation constraint: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Mandatory participation on both sides;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Mandatory participation on one side, optional on the another;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US" dirty="0"/>
              <a:t>Optional participation on both sides;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a) Mandatory participation on both sides</a:t>
            </a:r>
          </a:p>
          <a:p>
            <a:pPr lvl="1"/>
            <a:r>
              <a:rPr lang="en-US" dirty="0"/>
              <a:t>Combine entities involved into one relation.</a:t>
            </a:r>
          </a:p>
          <a:p>
            <a:pPr lvl="1"/>
            <a:r>
              <a:rPr lang="en-US" dirty="0"/>
              <a:t>Choose one of the primary keys of original entities to be primary key of new relation, while other (if exists) is used as an alternate key.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7786" y="3933711"/>
            <a:ext cx="8868427" cy="2332946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Relationship States</a:t>
            </a:r>
            <a:r>
              <a:rPr lang="en-US" altLang="en-US" sz="2000" i="1" dirty="0"/>
              <a:t> </a:t>
            </a:r>
            <a:r>
              <a:rPr lang="en-US" altLang="en-US" sz="2000" dirty="0"/>
              <a:t>between Client and Preference 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0000CC"/>
                </a:solidFill>
                <a:sym typeface="Wingdings" panose="05000000000000000000" pitchFamily="2" charset="2"/>
              </a:rPr>
              <a:t>  combine Client &amp; Preference </a:t>
            </a:r>
            <a:endParaRPr lang="en-US" altLang="en-US" sz="20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>
              <a:latin typeface="Times New Roman" panose="02020603050405020304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CLIENT_PREF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i="1" dirty="0" err="1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Fk</a:t>
            </a:r>
            <a:r>
              <a:rPr lang="en-US" altLang="en-US" sz="2000" i="1" dirty="0"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: </a:t>
            </a:r>
            <a:r>
              <a:rPr lang="en-US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references Staff(</a:t>
            </a:r>
            <a:r>
              <a:rPr lang="en-US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staffNo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Notes:   **  Relation PREFERENCE no longer exist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**  Relation CLIENT is renamed as CLIENT_PREF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b) Mandatory participation on one side, optional on another</a:t>
            </a:r>
          </a:p>
          <a:p>
            <a:pPr lvl="1"/>
            <a:r>
              <a:rPr lang="en-US" dirty="0"/>
              <a:t>Entity with optional participation is the parent.</a:t>
            </a:r>
          </a:p>
          <a:p>
            <a:pPr lvl="1"/>
            <a:r>
              <a:rPr lang="en-US" dirty="0"/>
              <a:t>Entity with mandatory participation is child.</a:t>
            </a:r>
          </a:p>
          <a:p>
            <a:pPr lvl="1"/>
            <a:r>
              <a:rPr lang="en-US" dirty="0"/>
              <a:t>Create one relation for each entity, then copy PK of parent into child relation.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38" y="3465742"/>
            <a:ext cx="4040478" cy="5260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651" y="4090972"/>
            <a:ext cx="7886700" cy="2185214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66FF"/>
                </a:solidFill>
                <a:sym typeface="Wingdings" panose="05000000000000000000" pitchFamily="2" charset="2"/>
              </a:rPr>
              <a:t>Client   optional		Preference      mandatory</a:t>
            </a:r>
          </a:p>
          <a:p>
            <a:pPr eaLnBrk="1" hangingPunct="1"/>
            <a:r>
              <a:rPr lang="en-US" altLang="en-US" dirty="0">
                <a:solidFill>
                  <a:srgbClr val="0066FF"/>
                </a:solidFill>
                <a:sym typeface="Wingdings" panose="05000000000000000000" pitchFamily="2" charset="2"/>
              </a:rPr>
              <a:t>	  parent			          child</a:t>
            </a:r>
          </a:p>
          <a:p>
            <a:pPr eaLnBrk="1" hangingPunct="1"/>
            <a:endParaRPr lang="en-US" altLang="en-US" sz="2000" dirty="0">
              <a:solidFill>
                <a:srgbClr val="0066FF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CLIENT (</a:t>
            </a:r>
            <a:r>
              <a:rPr lang="en-US" altLang="en-US" sz="2000" u="sng" dirty="0" err="1">
                <a:solidFill>
                  <a:srgbClr val="FF0000"/>
                </a:solidFill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i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sz="20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FK: </a:t>
            </a:r>
            <a:r>
              <a:rPr lang="en-US" altLang="en-US" sz="2000" dirty="0" err="1"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latin typeface="Times New Roman" panose="02020603050405020304" charset="0"/>
              </a:rPr>
              <a:t> references Staff(</a:t>
            </a:r>
            <a:r>
              <a:rPr lang="en-US" altLang="en-US" sz="2000" dirty="0" err="1">
                <a:latin typeface="Times New Roman" panose="02020603050405020304" charset="0"/>
              </a:rPr>
              <a:t>staffNo</a:t>
            </a:r>
            <a:r>
              <a:rPr lang="en-US" altLang="en-US" sz="2000" dirty="0"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	PREFERENCE (</a:t>
            </a:r>
            <a:r>
              <a:rPr lang="en-US" altLang="en-US" sz="2000" u="sng" dirty="0" err="1">
                <a:solidFill>
                  <a:srgbClr val="FF0000"/>
                </a:solidFill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)</a:t>
            </a:r>
          </a:p>
          <a:p>
            <a:pPr eaLnBrk="1" hangingPunct="1"/>
            <a:r>
              <a:rPr lang="en-US" altLang="en-US" sz="2000" i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sz="20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FK: </a:t>
            </a:r>
            <a:r>
              <a:rPr lang="en-US" altLang="en-US" sz="2000" dirty="0" err="1"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latin typeface="Times New Roman" panose="02020603050405020304" charset="0"/>
              </a:rPr>
              <a:t> references Client(</a:t>
            </a:r>
            <a:r>
              <a:rPr lang="en-US" altLang="en-US" sz="2000" dirty="0" err="1">
                <a:latin typeface="Times New Roman" panose="02020603050405020304" charset="0"/>
              </a:rPr>
              <a:t>clientNo</a:t>
            </a:r>
            <a:r>
              <a:rPr lang="en-US" altLang="en-US" sz="2000" dirty="0">
                <a:latin typeface="Times New Roman" panose="02020603050405020304" charset="0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One-to-one (1:1)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c) Optional participation on both sides</a:t>
            </a:r>
          </a:p>
          <a:p>
            <a:pPr lvl="1"/>
            <a:r>
              <a:rPr lang="en-US" dirty="0"/>
              <a:t>Designation of the parent and child entities is arbitrary unless can find out more about the relationship.</a:t>
            </a:r>
          </a:p>
          <a:p>
            <a:pPr lvl="1"/>
            <a:r>
              <a:rPr lang="en-US" dirty="0"/>
              <a:t>Must try to understand more about the relationship</a:t>
            </a:r>
          </a:p>
          <a:p>
            <a:pPr lvl="2"/>
            <a:r>
              <a:rPr lang="en-US" dirty="0"/>
              <a:t>Entity which is closer to being optional is the parent.</a:t>
            </a:r>
          </a:p>
          <a:p>
            <a:pPr lvl="2"/>
            <a:r>
              <a:rPr lang="en-US" dirty="0"/>
              <a:t>Entity which is closer to being mandatory is the child.</a:t>
            </a:r>
          </a:p>
          <a:p>
            <a:pPr lvl="1"/>
            <a:r>
              <a:rPr lang="en-US" dirty="0"/>
              <a:t>Create a relation for each entity, then copy PK of parent into child.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4390591"/>
            <a:ext cx="3041984" cy="475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5300" y="4881683"/>
            <a:ext cx="8153400" cy="138499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en-US" sz="1600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1600" dirty="0" err="1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ssume</a:t>
            </a:r>
            <a:r>
              <a:rPr lang="en-US" altLang="en-US" sz="1600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 majority of cars, but not all, are used by staff and only minority of staff use cars.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Car entity, although optional, is closer to being mandatory than Staff entity. Therefore designate Staff as parent entity and Car as child entity.</a:t>
            </a:r>
          </a:p>
          <a:p>
            <a:pPr eaLnBrk="1" hangingPunct="1"/>
            <a:r>
              <a:rPr lang="en-US" altLang="en-US" dirty="0">
                <a:solidFill>
                  <a:srgbClr val="0066FF"/>
                </a:solidFill>
                <a:ea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		CAR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carNo</a:t>
            </a: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Superclass/subclass relationship types</a:t>
            </a:r>
          </a:p>
          <a:p>
            <a:pPr lvl="1"/>
            <a:r>
              <a:rPr lang="en-US" dirty="0"/>
              <a:t>Designate superclass as parent entity and subclass as child entity.</a:t>
            </a:r>
          </a:p>
          <a:p>
            <a:pPr lvl="1"/>
            <a:r>
              <a:rPr lang="en-US" dirty="0"/>
              <a:t>There are various options on how to represent such a relationship as one or more relations.</a:t>
            </a:r>
          </a:p>
          <a:p>
            <a:pPr lvl="1"/>
            <a:r>
              <a:rPr lang="en-US" dirty="0"/>
              <a:t>Most appropriate option depends on number of factors such as:</a:t>
            </a:r>
          </a:p>
          <a:p>
            <a:pPr lvl="2"/>
            <a:r>
              <a:rPr lang="en-US" dirty="0"/>
              <a:t>Disjoint and participation constraints on the superclass/subclass relationship.</a:t>
            </a:r>
          </a:p>
          <a:p>
            <a:pPr lvl="2"/>
            <a:r>
              <a:rPr lang="en-US" dirty="0"/>
              <a:t>Whether subclasses are involved in distinct relationships,</a:t>
            </a:r>
          </a:p>
          <a:p>
            <a:pPr lvl="2"/>
            <a:r>
              <a:rPr lang="en-US" dirty="0"/>
              <a:t>Number of participants in superclass/subclass relationship.</a:t>
            </a:r>
          </a:p>
          <a:p>
            <a:endParaRPr lang="en-US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Superclass/subclass relationship types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49" y="2188381"/>
            <a:ext cx="7195302" cy="37953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Superclass/subclass relationship types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661" y="2139116"/>
            <a:ext cx="3413633" cy="2579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157" y="4678482"/>
            <a:ext cx="8993686" cy="1538883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CC"/>
                </a:solidFill>
              </a:rPr>
              <a:t>Guideline No 3:</a:t>
            </a:r>
          </a:p>
          <a:p>
            <a:pPr eaLnBrk="1" hangingPunct="1"/>
            <a:endParaRPr lang="en-US" altLang="en-US" dirty="0">
              <a:solidFill>
                <a:srgbClr val="00B050"/>
              </a:solidFill>
              <a:latin typeface="Times New Roman" panose="02020603050405020304" charset="0"/>
            </a:endParaRP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PRIVATEOWNER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address,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BUSINESSOWNER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address,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telNo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1</a:t>
            </a:r>
          </a:p>
          <a:p>
            <a:pPr lvl="1"/>
            <a:r>
              <a:rPr lang="en-US" dirty="0"/>
              <a:t>First, transform *:* relationships by creating two 1:* relationships</a:t>
            </a:r>
          </a:p>
          <a:p>
            <a:pPr lvl="1"/>
            <a:r>
              <a:rPr lang="en-US" dirty="0"/>
              <a:t>Then, create relations from the transformed diagram</a:t>
            </a:r>
          </a:p>
          <a:p>
            <a:endParaRPr lang="en-US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 descr="DS3-Figure 15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3" r="12621" b="45238"/>
          <a:stretch>
            <a:fillRect/>
          </a:stretch>
        </p:blipFill>
        <p:spPr bwMode="auto">
          <a:xfrm>
            <a:off x="3459436" y="3229496"/>
            <a:ext cx="5364793" cy="1623556"/>
          </a:xfrm>
          <a:prstGeom prst="rect">
            <a:avLst/>
          </a:prstGeom>
          <a:solidFill>
            <a:srgbClr val="FFFF00"/>
          </a:solidFill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8" name="Picture 7" descr="DS3-Figure 15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05" b="7143"/>
          <a:stretch>
            <a:fillRect/>
          </a:stretch>
        </p:blipFill>
        <p:spPr bwMode="auto">
          <a:xfrm>
            <a:off x="446240" y="5053102"/>
            <a:ext cx="8001000" cy="1219200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75543" y="3203228"/>
            <a:ext cx="144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MS PGothic" panose="020B0600070205080204" charset="-128"/>
              </a:rPr>
              <a:t>Original</a:t>
            </a:r>
            <a:r>
              <a:rPr lang="en-US" altLang="en-US" sz="2000" dirty="0">
                <a:solidFill>
                  <a:srgbClr val="00B0F0"/>
                </a:solidFill>
                <a:latin typeface="Arial" panose="020B0604020202020204" pitchFamily="34" charset="0"/>
                <a:ea typeface="MS PGothic" panose="020B0600070205080204" charset="-128"/>
              </a:rPr>
              <a:t>: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6240" y="4582765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Transformed</a:t>
            </a:r>
            <a:r>
              <a:rPr lang="en-US" altLang="en-US" sz="2000" dirty="0">
                <a:solidFill>
                  <a:srgbClr val="00B0F0"/>
                </a:solidFill>
                <a:latin typeface="Arial" panose="020B0604020202020204" pitchFamily="34" charset="0"/>
                <a:ea typeface="MS PGothic" panose="020B0600070205080204" charset="-128"/>
              </a:rPr>
              <a:t>:</a:t>
            </a:r>
          </a:p>
        </p:txBody>
      </p:sp>
      <p:sp>
        <p:nvSpPr>
          <p:cNvPr id="11" name="Curved Left Arrow 9"/>
          <p:cNvSpPr>
            <a:spLocks noChangeArrowheads="1"/>
          </p:cNvSpPr>
          <p:nvPr/>
        </p:nvSpPr>
        <p:spPr bwMode="auto">
          <a:xfrm>
            <a:off x="8447240" y="4059559"/>
            <a:ext cx="609600" cy="13716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1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/>
        </p:nvSpPr>
        <p:spPr bwMode="auto">
          <a:xfrm>
            <a:off x="628650" y="2638925"/>
            <a:ext cx="8058150" cy="353803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0000CC"/>
                </a:solidFill>
              </a:rPr>
              <a:t>Relations: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PROPERTYFORRENT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street, city, postcode, type, rooms, rent)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VIEWING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viewDate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comment)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CLIENT_PREF (</a:t>
            </a:r>
            <a:r>
              <a:rPr lang="en-US" altLang="en-US" sz="2000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  <a:r>
              <a:rPr lang="en-US" altLang="en-US" sz="20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 </a:t>
            </a:r>
          </a:p>
          <a:p>
            <a:pPr lvl="1">
              <a:buFontTx/>
              <a:buNone/>
            </a:pPr>
            <a:endParaRPr lang="en-US" altLang="en-US" sz="2000" i="1" dirty="0">
              <a:solidFill>
                <a:srgbClr val="FF000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>
              <a:buFontTx/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	Note:  recall that relation CLIENT_PREF is the result from our earlier work on deriving relation for 1..1 binary relationship</a:t>
            </a:r>
            <a:endParaRPr lang="en-US" altLang="en-US" sz="2400" i="1" dirty="0">
              <a:solidFill>
                <a:srgbClr val="FF000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lvl="1">
              <a:buFontTx/>
              <a:buNone/>
            </a:pPr>
            <a:endParaRPr lang="en-US" altLang="en-US" sz="2000" dirty="0">
              <a:solidFill>
                <a:srgbClr val="00B050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Many-to-many (*:*) binary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2</a:t>
            </a:r>
          </a:p>
          <a:p>
            <a:pPr lvl="1"/>
            <a:r>
              <a:rPr lang="en-US" dirty="0"/>
              <a:t>Create a </a:t>
            </a:r>
            <a:r>
              <a:rPr lang="en-US" b="1" dirty="0">
                <a:solidFill>
                  <a:srgbClr val="0070C0"/>
                </a:solidFill>
              </a:rPr>
              <a:t>new relation </a:t>
            </a:r>
            <a:r>
              <a:rPr lang="en-US" dirty="0"/>
              <a:t>to represent the relationship and include any attributes that are part of relationship.</a:t>
            </a:r>
          </a:p>
          <a:p>
            <a:pPr lvl="1"/>
            <a:r>
              <a:rPr lang="en-US" dirty="0"/>
              <a:t>Copy the primary key attribute(s) of the entities that participate in relationship into the new relation.</a:t>
            </a:r>
          </a:p>
          <a:p>
            <a:pPr lvl="2"/>
            <a:r>
              <a:rPr lang="en-US" dirty="0"/>
              <a:t>This attribute(s) is now act as </a:t>
            </a:r>
            <a:r>
              <a:rPr lang="en-US" b="1" dirty="0">
                <a:solidFill>
                  <a:srgbClr val="0070C0"/>
                </a:solidFill>
              </a:rPr>
              <a:t>foreign key </a:t>
            </a:r>
            <a:r>
              <a:rPr lang="en-US" dirty="0"/>
              <a:t>in the new relation.</a:t>
            </a:r>
          </a:p>
          <a:p>
            <a:pPr lvl="2"/>
            <a:r>
              <a:rPr lang="en-US" dirty="0"/>
              <a:t>This attribute (the FK) is also the primary key of new relation, possibly in combination with some of the attributes of the relationships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1000" y="4784128"/>
            <a:ext cx="8382000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CLIENT_PREF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fName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lName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telNo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prefType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maxRent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staffNo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PROPERTYFORRENT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street, city, postcode, type, rooms, rent)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VIEWING (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clientNo</a:t>
            </a:r>
            <a:r>
              <a:rPr lang="en-US" altLang="en-US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u="sng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propertyNo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viewDate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</a:rPr>
              <a:t>, comment)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58045" y="5063262"/>
            <a:ext cx="601249" cy="640459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06944" y="5383491"/>
            <a:ext cx="644142" cy="32023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dirty="0"/>
              <a:t>Use rules for participation for a 1:1 relationship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Mandatory participation on both sides:</a:t>
            </a:r>
          </a:p>
          <a:p>
            <a:pPr lvl="2"/>
            <a:r>
              <a:rPr lang="en-US" dirty="0"/>
              <a:t>Represent recursive relationship as a single relation with two copies of the primary key</a:t>
            </a:r>
          </a:p>
          <a:p>
            <a:pPr lvl="2"/>
            <a:r>
              <a:rPr lang="en-US" dirty="0"/>
              <a:t>One copy of the primary key represents a foreign key and should be renamed to represent the relationship it presents.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327625" y="4817268"/>
            <a:ext cx="3030538" cy="11906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20"/>
          <p:cNvSpPr txBox="1">
            <a:spLocks noChangeArrowheads="1"/>
          </p:cNvSpPr>
          <p:nvPr/>
        </p:nvSpPr>
        <p:spPr bwMode="auto">
          <a:xfrm>
            <a:off x="3586761" y="4942681"/>
            <a:ext cx="5029200" cy="1138237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SUPERVISION (</a:t>
            </a:r>
            <a:r>
              <a:rPr lang="en-US" altLang="en-US" sz="2000" u="sng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superviseeNo)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PK : staffNo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FK1: staffNo references Staff(staffNo)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  <a:ea typeface="MS PGothic" panose="020B0600070205080204" charset="-128"/>
              </a:rPr>
              <a:t>    FK2: superviseeNo references Staff(staffNo)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Mandatory participation on only one side:</a:t>
            </a:r>
          </a:p>
          <a:p>
            <a:pPr lvl="2"/>
            <a:r>
              <a:rPr lang="en-US" dirty="0"/>
              <a:t>Option 1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Create a single relation with two copies of primary key</a:t>
            </a:r>
          </a:p>
          <a:p>
            <a:pPr lvl="2"/>
            <a:r>
              <a:rPr lang="en-US" dirty="0"/>
              <a:t>Option 2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Create a new relation to represent the relationship. The new relation would only have two attributes, both copies of the primary key.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5901917" y="4572751"/>
            <a:ext cx="3030538" cy="11144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1..1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172698" y="4058024"/>
            <a:ext cx="4558080" cy="89255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 (</a:t>
            </a:r>
            <a:r>
              <a:rPr lang="en-US" altLang="en-US" sz="2000" u="sng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, </a:t>
            </a:r>
            <a:r>
              <a:rPr lang="en-US" altLang="en-US" sz="20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PK: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endParaRPr lang="en-US" altLang="en-US" sz="16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FK: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 reference STAFF(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1172698" y="5040495"/>
            <a:ext cx="4558080" cy="89255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 (</a:t>
            </a:r>
            <a:r>
              <a:rPr lang="en-US" altLang="en-US" sz="2000" u="sng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, </a:t>
            </a:r>
            <a:r>
              <a:rPr lang="en-US" altLang="en-US" sz="2000" dirty="0" err="1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PK: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endParaRPr lang="en-US" altLang="en-US" sz="16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FK: 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superviseeNo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 reference STAFF(</a:t>
            </a:r>
            <a:r>
              <a:rPr lang="en-US" altLang="en-US" sz="16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6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1" y="4373540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Option 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9340" y="5322743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Option 2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1:1 recursive relationships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Optional participation on both sides:</a:t>
            </a:r>
          </a:p>
          <a:p>
            <a:pPr lvl="2"/>
            <a:r>
              <a:rPr lang="en-US" dirty="0"/>
              <a:t>Create a new relation as described above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253653" y="3650413"/>
            <a:ext cx="3030538" cy="1114425"/>
            <a:chOff x="2971800" y="4191000"/>
            <a:chExt cx="2449791" cy="515666"/>
          </a:xfrm>
        </p:grpSpPr>
        <p:sp>
          <p:nvSpPr>
            <p:cNvPr id="8" name="TextBox 3"/>
            <p:cNvSpPr txBox="1">
              <a:spLocks noChangeArrowheads="1"/>
            </p:cNvSpPr>
            <p:nvPr/>
          </p:nvSpPr>
          <p:spPr bwMode="auto">
            <a:xfrm>
              <a:off x="2971800" y="4407106"/>
              <a:ext cx="1094382" cy="2618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ea typeface="MS PGothic" panose="020B0600070205080204" charset="-128"/>
                </a:rPr>
                <a:t>staff</a:t>
              </a:r>
            </a:p>
          </p:txBody>
        </p:sp>
        <p:cxnSp>
          <p:nvCxnSpPr>
            <p:cNvPr id="9" name="Shape 12"/>
            <p:cNvCxnSpPr>
              <a:cxnSpLocks noChangeShapeType="1"/>
              <a:stCxn id="8" idx="3"/>
              <a:endCxn id="8" idx="0"/>
            </p:cNvCxnSpPr>
            <p:nvPr/>
          </p:nvCxnSpPr>
          <p:spPr bwMode="auto">
            <a:xfrm flipH="1" flipV="1">
              <a:off x="3518991" y="4407106"/>
              <a:ext cx="547191" cy="130930"/>
            </a:xfrm>
            <a:prstGeom prst="bentConnector4">
              <a:avLst>
                <a:gd name="adj1" fmla="val -33778"/>
                <a:gd name="adj2" fmla="val 351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4127790" y="4578582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3142037" y="4296705"/>
              <a:ext cx="441146" cy="12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ea typeface="MS PGothic" panose="020B0600070205080204" charset="-128"/>
                </a:rPr>
                <a:t>0..1</a:t>
              </a:r>
            </a:p>
          </p:txBody>
        </p:sp>
        <p:sp>
          <p:nvSpPr>
            <p:cNvPr id="12" name="TextBox 17"/>
            <p:cNvSpPr txBox="1">
              <a:spLocks noChangeArrowheads="1"/>
            </p:cNvSpPr>
            <p:nvPr/>
          </p:nvSpPr>
          <p:spPr bwMode="auto">
            <a:xfrm>
              <a:off x="4559057" y="4191000"/>
              <a:ext cx="862534" cy="218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  <a:ea typeface="MS PGothic" panose="020B0600070205080204" charset="-128"/>
                </a:rPr>
                <a:t>supervise</a:t>
              </a:r>
            </a:p>
          </p:txBody>
        </p:sp>
        <p:sp>
          <p:nvSpPr>
            <p:cNvPr id="13" name="Isosceles Triangle 12"/>
            <p:cNvSpPr>
              <a:spLocks noChangeArrowheads="1"/>
            </p:cNvSpPr>
            <p:nvPr/>
          </p:nvSpPr>
          <p:spPr bwMode="auto">
            <a:xfrm>
              <a:off x="4374230" y="4245027"/>
              <a:ext cx="123217" cy="51677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3301653" y="3286876"/>
            <a:ext cx="5638800" cy="1662112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B050"/>
              </a:solidFill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SUPERVISE (</a:t>
            </a:r>
            <a:r>
              <a:rPr lang="en-US" altLang="en-US" sz="2400" u="sng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superviseeNo)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MS PGothic" panose="020B0600070205080204" charset="-128"/>
              </a:rPr>
              <a:t>PK: staffNo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  <a:ea typeface="MS PGothic" panose="020B0600070205080204" charset="-128"/>
              </a:rPr>
              <a:t>FK: superviseeNo reference STAFF(staffNo)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*:* recursive relationships</a:t>
            </a:r>
          </a:p>
          <a:p>
            <a:pPr lvl="1"/>
            <a:r>
              <a:rPr lang="en-US" dirty="0"/>
              <a:t>Transform *:* recursive relationship into 1:* binary relationship</a:t>
            </a:r>
          </a:p>
          <a:p>
            <a:pPr lvl="1"/>
            <a:r>
              <a:rPr lang="en-US" dirty="0"/>
              <a:t>Create relations to represent relationships from the transformed diagram, follow rules for participation 1:*</a:t>
            </a:r>
          </a:p>
          <a:p>
            <a:pPr lvl="2"/>
            <a:r>
              <a:rPr lang="en-US" dirty="0"/>
              <a:t>Entity on ‘one’ side is designated the parent entity and entity on ‘many’ side is the child entity.</a:t>
            </a:r>
          </a:p>
          <a:p>
            <a:pPr lvl="2"/>
            <a:r>
              <a:rPr lang="en-US" dirty="0"/>
              <a:t>Copy the primary key attribute(s) of parent entity into relation representing child entity, to act as a foreign key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>
                <a:solidFill>
                  <a:srgbClr val="0070C0"/>
                </a:solidFill>
              </a:rPr>
              <a:t>Recursive relationship type</a:t>
            </a:r>
          </a:p>
          <a:p>
            <a:pPr marL="0" indent="0">
              <a:buNone/>
            </a:pPr>
            <a:r>
              <a:rPr lang="en-MY" b="1" dirty="0">
                <a:solidFill>
                  <a:srgbClr val="830E3E"/>
                </a:solidFill>
              </a:rPr>
              <a:t>*:* recursive relationships</a:t>
            </a:r>
          </a:p>
          <a:p>
            <a:pPr marL="0" indent="0">
              <a:buNone/>
            </a:pPr>
            <a:endParaRPr lang="en-MY" b="1" dirty="0">
              <a:solidFill>
                <a:srgbClr val="0070C0"/>
              </a:solidFill>
            </a:endParaRP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63" y="2620238"/>
            <a:ext cx="6077873" cy="34666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1:</a:t>
            </a:r>
          </a:p>
          <a:p>
            <a:pPr lvl="1"/>
            <a:r>
              <a:rPr lang="en-US" dirty="0"/>
              <a:t>Transform *:* relationship by creating a new entity and binary relationships between original entities with this new entity.</a:t>
            </a:r>
          </a:p>
          <a:p>
            <a:pPr lvl="1"/>
            <a:r>
              <a:rPr lang="en-US" dirty="0"/>
              <a:t>Create relations for all entities (follow appropriate rules for binary relationships)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 descr="DS3-Figure 15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5263" b="55814"/>
          <a:stretch>
            <a:fillRect/>
          </a:stretch>
        </p:blipFill>
        <p:spPr bwMode="auto">
          <a:xfrm>
            <a:off x="292233" y="3883992"/>
            <a:ext cx="3594970" cy="1894183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hape 8"/>
          <p:cNvCxnSpPr>
            <a:cxnSpLocks noChangeShapeType="1"/>
            <a:stCxn id="7" idx="2"/>
          </p:cNvCxnSpPr>
          <p:nvPr/>
        </p:nvCxnSpPr>
        <p:spPr bwMode="auto">
          <a:xfrm rot="16200000" flipH="1">
            <a:off x="2996921" y="4870971"/>
            <a:ext cx="398789" cy="2213195"/>
          </a:xfrm>
          <a:prstGeom prst="bentConnector2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8" descr="DS3-Figure 15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06" b="4463"/>
          <a:stretch>
            <a:fillRect/>
          </a:stretch>
        </p:blipFill>
        <p:spPr bwMode="auto">
          <a:xfrm>
            <a:off x="4302913" y="4042203"/>
            <a:ext cx="4419600" cy="2134759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2:</a:t>
            </a:r>
          </a:p>
          <a:p>
            <a:pPr lvl="1"/>
            <a:r>
              <a:rPr lang="en-US" dirty="0"/>
              <a:t>Create relation to represent relationship and include any attributes that are part of the relationship. </a:t>
            </a:r>
          </a:p>
          <a:p>
            <a:pPr lvl="1"/>
            <a:r>
              <a:rPr lang="en-US" dirty="0"/>
              <a:t>Copy primary key attribute(s) of entities that participate in the complex relationship into new relation, to act as foreign keys. </a:t>
            </a:r>
          </a:p>
          <a:p>
            <a:pPr lvl="1"/>
            <a:r>
              <a:rPr lang="en-US" dirty="0"/>
              <a:t>Any foreign keys that represent a ‘many’ relationship (for example, 1..*, 0..*) generally will also form the primary key of new relation, possibly in combination with some of the attributes of the relationship.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Complex relationship types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2: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 descr="DS3-Figure 15-0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5263" b="55814"/>
          <a:stretch>
            <a:fillRect/>
          </a:stretch>
        </p:blipFill>
        <p:spPr bwMode="auto">
          <a:xfrm>
            <a:off x="1010944" y="2606710"/>
            <a:ext cx="7122111" cy="2000593"/>
          </a:xfrm>
          <a:prstGeom prst="rect">
            <a:avLst/>
          </a:prstGeom>
          <a:noFill/>
          <a:ln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88474" y="4661739"/>
            <a:ext cx="7772400" cy="1569660"/>
          </a:xfrm>
          <a:prstGeom prst="rect">
            <a:avLst/>
          </a:prstGeom>
          <a:solidFill>
            <a:srgbClr val="FFFF99"/>
          </a:solidFill>
          <a:ln w="9525">
            <a:solidFill>
              <a:srgbClr val="0066FF"/>
            </a:solidFill>
            <a:miter lim="800000"/>
          </a:ln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REGISTRATION (</a:t>
            </a:r>
            <a:r>
              <a:rPr lang="en-US" altLang="en-US" sz="2400" u="sng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, branchNo,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PK: 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endParaRPr lang="en-US" altLang="en-US" sz="1800" dirty="0">
              <a:latin typeface="Arial" panose="020B0604020202020204" pitchFamily="34" charset="0"/>
              <a:ea typeface="MS PGothic" panose="020B060007020508020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FK1: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references CLIENT (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clientNo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FK2: branchNo references BRANCH (branchNo)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    FK3: 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 reference STAFF (</a:t>
            </a:r>
            <a:r>
              <a:rPr lang="en-US" altLang="en-US" sz="1800" dirty="0" err="1">
                <a:latin typeface="Arial" panose="020B0604020202020204" pitchFamily="34" charset="0"/>
                <a:ea typeface="MS PGothic" panose="020B0600070205080204" charset="-128"/>
              </a:rPr>
              <a:t>staffNo</a:t>
            </a:r>
            <a:r>
              <a:rPr lang="en-US" altLang="en-US" sz="1800" dirty="0">
                <a:latin typeface="Arial" panose="020B0604020202020204" pitchFamily="34" charset="0"/>
                <a:ea typeface="MS PGothic" panose="020B0600070205080204" charset="-128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Derive Relations for Local Logical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Multi-valued attributes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830E3E"/>
                </a:solidFill>
              </a:rPr>
              <a:t>Option 1:</a:t>
            </a:r>
          </a:p>
          <a:p>
            <a:pPr lvl="1"/>
            <a:r>
              <a:rPr lang="en-US" dirty="0"/>
              <a:t>Remove multi-valued attribute from original entity and put in new entity</a:t>
            </a:r>
          </a:p>
          <a:p>
            <a:pPr lvl="1"/>
            <a:r>
              <a:rPr lang="en-US" dirty="0"/>
              <a:t>Create relationship between original entity to newly formed entity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42" y="3621507"/>
            <a:ext cx="6621716" cy="26538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dirty="0"/>
              <a:t>Summary Derive Relation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50" y="1291389"/>
            <a:ext cx="6092701" cy="49839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Local conceptual data model: Staff View</a:t>
            </a: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16" y="1277315"/>
            <a:ext cx="5550568" cy="49980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Relations for the Staff View of </a:t>
            </a:r>
            <a:r>
              <a:rPr lang="en-US" sz="2400" dirty="0" err="1"/>
              <a:t>DreamHome</a:t>
            </a: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16" y="1283368"/>
            <a:ext cx="5888769" cy="49088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steps in logical DB design: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070C0"/>
                </a:solidFill>
              </a:rPr>
              <a:t>Step 2.2  Validate relations using normalization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To validate the relations in the local logical data model using the technique of normalization (details will be discussed in Chapter Normalization). </a:t>
            </a:r>
          </a:p>
          <a:p>
            <a:r>
              <a:rPr lang="en-US" sz="2000" b="1" dirty="0"/>
              <a:t>Step 2.3  Validate relations against user transactions</a:t>
            </a:r>
          </a:p>
          <a:p>
            <a:pPr lvl="1"/>
            <a:r>
              <a:rPr lang="en-US" sz="1800" dirty="0"/>
              <a:t>To ensure that the relations in the local logical data model support the transactions required by the view. </a:t>
            </a:r>
          </a:p>
          <a:p>
            <a:r>
              <a:rPr lang="en-US" sz="2000" b="1" dirty="0"/>
              <a:t>Step 2.4  Check integrity constraints</a:t>
            </a:r>
          </a:p>
          <a:p>
            <a:pPr lvl="1"/>
            <a:r>
              <a:rPr lang="en-US" sz="1800" dirty="0"/>
              <a:t>To check that integrity constraints are represented in logical data model (i.e. required data, entity and referential integrity, domains, and enterprise constraints).</a:t>
            </a:r>
          </a:p>
          <a:p>
            <a:r>
              <a:rPr lang="en-US" sz="2000" b="1" dirty="0"/>
              <a:t>Step 2.5  Review local logical data model with user</a:t>
            </a:r>
          </a:p>
          <a:p>
            <a:pPr lvl="1"/>
            <a:r>
              <a:rPr lang="en-US" sz="1800" dirty="0"/>
              <a:t>To ensure that the local logical data model and supporting documentation that describes the model is a true representation of the view.</a:t>
            </a:r>
          </a:p>
          <a:p>
            <a:endParaRPr lang="en-MY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steps in logical DB design: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2.6  Merge local logical data models into global model (optional step)</a:t>
            </a:r>
          </a:p>
          <a:p>
            <a:pPr lvl="1"/>
            <a:r>
              <a:rPr lang="en-US" dirty="0"/>
              <a:t>To merge the individual local logical data models into a single global logical data model of the enterprise that represents all user views of a database.</a:t>
            </a:r>
          </a:p>
          <a:p>
            <a:pPr lvl="2"/>
            <a:r>
              <a:rPr lang="en-US" dirty="0"/>
              <a:t>2.6.1	Merge logical data models into global logical data model</a:t>
            </a:r>
          </a:p>
          <a:p>
            <a:pPr lvl="2"/>
            <a:r>
              <a:rPr lang="en-US" dirty="0"/>
              <a:t>2.6.2	Validate global logical data model</a:t>
            </a:r>
          </a:p>
          <a:p>
            <a:pPr lvl="2"/>
            <a:r>
              <a:rPr lang="en-US" dirty="0"/>
              <a:t>2.6.3	Review global logical data model with users</a:t>
            </a:r>
          </a:p>
          <a:p>
            <a:r>
              <a:rPr lang="en-US" b="1" dirty="0"/>
              <a:t>Step 2.7  Check for future growth </a:t>
            </a:r>
          </a:p>
          <a:p>
            <a:pPr lvl="1"/>
            <a:r>
              <a:rPr lang="en-US" dirty="0"/>
              <a:t>To determine whether there are any significant changes likely in the foreseeable future and to assess whether the global logical data model can accommodate these changes.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1E3A3-F38E-40B2-B9CB-FADBA9C8A086}" type="datetime5">
              <a:rPr lang="en-US" smtClean="0"/>
              <a:t>17-Apr-21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Logical DB Design Part 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2560</Words>
  <Application>Microsoft Office PowerPoint</Application>
  <PresentationFormat>On-screen Show (4:3)</PresentationFormat>
  <Paragraphs>351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Century Gothic</vt:lpstr>
      <vt:lpstr>Times New Roman</vt:lpstr>
      <vt:lpstr>Office Theme</vt:lpstr>
      <vt:lpstr>Logical Database Design (Part 1)</vt:lpstr>
      <vt:lpstr>Learning Objective</vt:lpstr>
      <vt:lpstr>Logical Database Design Phase:</vt:lpstr>
      <vt:lpstr>Local conceptual data model: Staff View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Derive Relations for Local Logical Data Model</vt:lpstr>
      <vt:lpstr>Summary Derive Relation</vt:lpstr>
      <vt:lpstr>Local conceptual data model: Staff View</vt:lpstr>
      <vt:lpstr>Relations for the Staff View of DreamHome</vt:lpstr>
      <vt:lpstr>The rest of steps in logical DB design:</vt:lpstr>
      <vt:lpstr>The rest of steps in logical DB design: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Noor Hidayah Zakaria</cp:lastModifiedBy>
  <cp:revision>122</cp:revision>
  <dcterms:created xsi:type="dcterms:W3CDTF">2019-01-07T08:53:00Z</dcterms:created>
  <dcterms:modified xsi:type="dcterms:W3CDTF">2021-04-17T04:43:35Z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